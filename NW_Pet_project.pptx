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на Беляева" initials="АБ" lastIdx="1" clrIdx="0">
    <p:extLst>
      <p:ext uri="{19B8F6BF-5375-455C-9EA6-DF929625EA0E}">
        <p15:presenceInfo xmlns:p15="http://schemas.microsoft.com/office/powerpoint/2012/main" userId="047f14a506b2f03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NorthWind%20_Pet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Прирост</a:t>
            </a:r>
            <a:r>
              <a:rPr lang="ru-RU" baseline="0" dirty="0"/>
              <a:t> выручки (по месяцам)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'Revenue dynamics'!$D$1</c:f>
              <c:strCache>
                <c:ptCount val="1"/>
                <c:pt idx="0">
                  <c:v>revenue_increase</c:v>
                </c:pt>
              </c:strCache>
            </c:strRef>
          </c:tx>
          <c:spPr>
            <a:ln w="28575" cap="rnd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40000"/>
                  <a:lumOff val="60000"/>
                </a:schemeClr>
              </a:solidFill>
              <a:ln w="9525">
                <a:solidFill>
                  <a:schemeClr val="accent5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numRef>
              <c:f>'Revenue dynamics'!$A$3:$A$24</c:f>
              <c:numCache>
                <c:formatCode>m/d/yyyy</c:formatCode>
                <c:ptCount val="22"/>
                <c:pt idx="0">
                  <c:v>35278</c:v>
                </c:pt>
                <c:pt idx="1">
                  <c:v>35309</c:v>
                </c:pt>
                <c:pt idx="2">
                  <c:v>35339</c:v>
                </c:pt>
                <c:pt idx="3">
                  <c:v>35370</c:v>
                </c:pt>
                <c:pt idx="4">
                  <c:v>35400</c:v>
                </c:pt>
                <c:pt idx="5">
                  <c:v>35431</c:v>
                </c:pt>
                <c:pt idx="6">
                  <c:v>35462</c:v>
                </c:pt>
                <c:pt idx="7">
                  <c:v>35490</c:v>
                </c:pt>
                <c:pt idx="8">
                  <c:v>35521</c:v>
                </c:pt>
                <c:pt idx="9">
                  <c:v>35551</c:v>
                </c:pt>
                <c:pt idx="10">
                  <c:v>35582</c:v>
                </c:pt>
                <c:pt idx="11">
                  <c:v>35612</c:v>
                </c:pt>
                <c:pt idx="12">
                  <c:v>35643</c:v>
                </c:pt>
                <c:pt idx="13">
                  <c:v>35674</c:v>
                </c:pt>
                <c:pt idx="14">
                  <c:v>35704</c:v>
                </c:pt>
                <c:pt idx="15">
                  <c:v>35735</c:v>
                </c:pt>
                <c:pt idx="16">
                  <c:v>35765</c:v>
                </c:pt>
                <c:pt idx="17">
                  <c:v>35796</c:v>
                </c:pt>
                <c:pt idx="18">
                  <c:v>35827</c:v>
                </c:pt>
                <c:pt idx="19">
                  <c:v>35855</c:v>
                </c:pt>
                <c:pt idx="20">
                  <c:v>35886</c:v>
                </c:pt>
                <c:pt idx="21">
                  <c:v>35916</c:v>
                </c:pt>
              </c:numCache>
            </c:numRef>
          </c:cat>
          <c:val>
            <c:numRef>
              <c:f>'Revenue dynamics'!$D$3:$D$24</c:f>
              <c:numCache>
                <c:formatCode>0.00%</c:formatCode>
                <c:ptCount val="22"/>
                <c:pt idx="0">
                  <c:v>-0.09</c:v>
                </c:pt>
                <c:pt idx="1">
                  <c:v>0.04</c:v>
                </c:pt>
                <c:pt idx="2">
                  <c:v>0.42</c:v>
                </c:pt>
                <c:pt idx="3">
                  <c:v>0.22</c:v>
                </c:pt>
                <c:pt idx="4">
                  <c:v>-0.01</c:v>
                </c:pt>
                <c:pt idx="5">
                  <c:v>0.35</c:v>
                </c:pt>
                <c:pt idx="6">
                  <c:v>-0.37</c:v>
                </c:pt>
                <c:pt idx="7">
                  <c:v>0</c:v>
                </c:pt>
                <c:pt idx="8">
                  <c:v>0.38</c:v>
                </c:pt>
                <c:pt idx="9">
                  <c:v>0.01</c:v>
                </c:pt>
                <c:pt idx="10">
                  <c:v>-0.32</c:v>
                </c:pt>
                <c:pt idx="11">
                  <c:v>0.4</c:v>
                </c:pt>
                <c:pt idx="12">
                  <c:v>-7.0000000000000007E-2</c:v>
                </c:pt>
                <c:pt idx="13">
                  <c:v>0.18</c:v>
                </c:pt>
                <c:pt idx="14">
                  <c:v>0.2</c:v>
                </c:pt>
                <c:pt idx="15">
                  <c:v>-0.35</c:v>
                </c:pt>
                <c:pt idx="16">
                  <c:v>0.64</c:v>
                </c:pt>
                <c:pt idx="17">
                  <c:v>0.32</c:v>
                </c:pt>
                <c:pt idx="18">
                  <c:v>0.06</c:v>
                </c:pt>
                <c:pt idx="19">
                  <c:v>0.05</c:v>
                </c:pt>
                <c:pt idx="20">
                  <c:v>0.18</c:v>
                </c:pt>
                <c:pt idx="21">
                  <c:v>-0.85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C0-42EB-8CAF-D8DCECDA93EF}"/>
            </c:ext>
          </c:extLst>
        </c:ser>
        <c:ser>
          <c:idx val="2"/>
          <c:order val="2"/>
          <c:tx>
            <c:v>0</c:v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'Revenue dynamics'!$A$3:$A$24</c:f>
              <c:numCache>
                <c:formatCode>m/d/yyyy</c:formatCode>
                <c:ptCount val="22"/>
                <c:pt idx="0">
                  <c:v>35278</c:v>
                </c:pt>
                <c:pt idx="1">
                  <c:v>35309</c:v>
                </c:pt>
                <c:pt idx="2">
                  <c:v>35339</c:v>
                </c:pt>
                <c:pt idx="3">
                  <c:v>35370</c:v>
                </c:pt>
                <c:pt idx="4">
                  <c:v>35400</c:v>
                </c:pt>
                <c:pt idx="5">
                  <c:v>35431</c:v>
                </c:pt>
                <c:pt idx="6">
                  <c:v>35462</c:v>
                </c:pt>
                <c:pt idx="7">
                  <c:v>35490</c:v>
                </c:pt>
                <c:pt idx="8">
                  <c:v>35521</c:v>
                </c:pt>
                <c:pt idx="9">
                  <c:v>35551</c:v>
                </c:pt>
                <c:pt idx="10">
                  <c:v>35582</c:v>
                </c:pt>
                <c:pt idx="11">
                  <c:v>35612</c:v>
                </c:pt>
                <c:pt idx="12">
                  <c:v>35643</c:v>
                </c:pt>
                <c:pt idx="13">
                  <c:v>35674</c:v>
                </c:pt>
                <c:pt idx="14">
                  <c:v>35704</c:v>
                </c:pt>
                <c:pt idx="15">
                  <c:v>35735</c:v>
                </c:pt>
                <c:pt idx="16">
                  <c:v>35765</c:v>
                </c:pt>
                <c:pt idx="17">
                  <c:v>35796</c:v>
                </c:pt>
                <c:pt idx="18">
                  <c:v>35827</c:v>
                </c:pt>
                <c:pt idx="19">
                  <c:v>35855</c:v>
                </c:pt>
                <c:pt idx="20">
                  <c:v>35886</c:v>
                </c:pt>
                <c:pt idx="21">
                  <c:v>35916</c:v>
                </c:pt>
              </c:numCache>
            </c:numRef>
          </c:cat>
          <c:val>
            <c:numRef>
              <c:f>'Revenue dynamics'!$E$3:$E$24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C0-42EB-8CAF-D8DCECDA9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32183119"/>
        <c:axId val="1932184783"/>
      </c:lineChart>
      <c:lineChart>
        <c:grouping val="standard"/>
        <c:varyColors val="0"/>
        <c:ser>
          <c:idx val="0"/>
          <c:order val="0"/>
          <c:tx>
            <c:strRef>
              <c:f>'Revenue dynamics'!$B$1</c:f>
              <c:strCache>
                <c:ptCount val="1"/>
                <c:pt idx="0">
                  <c:v>total_monthly_revenue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'Revenue dynamics'!$A$2:$A$24</c:f>
              <c:numCache>
                <c:formatCode>m/d/yyyy</c:formatCode>
                <c:ptCount val="23"/>
                <c:pt idx="0">
                  <c:v>35247</c:v>
                </c:pt>
                <c:pt idx="1">
                  <c:v>35278</c:v>
                </c:pt>
                <c:pt idx="2">
                  <c:v>35309</c:v>
                </c:pt>
                <c:pt idx="3">
                  <c:v>35339</c:v>
                </c:pt>
                <c:pt idx="4">
                  <c:v>35370</c:v>
                </c:pt>
                <c:pt idx="5">
                  <c:v>35400</c:v>
                </c:pt>
                <c:pt idx="6">
                  <c:v>35431</c:v>
                </c:pt>
                <c:pt idx="7">
                  <c:v>35462</c:v>
                </c:pt>
                <c:pt idx="8">
                  <c:v>35490</c:v>
                </c:pt>
                <c:pt idx="9">
                  <c:v>35521</c:v>
                </c:pt>
                <c:pt idx="10">
                  <c:v>35551</c:v>
                </c:pt>
                <c:pt idx="11">
                  <c:v>35582</c:v>
                </c:pt>
                <c:pt idx="12">
                  <c:v>35612</c:v>
                </c:pt>
                <c:pt idx="13">
                  <c:v>35643</c:v>
                </c:pt>
                <c:pt idx="14">
                  <c:v>35674</c:v>
                </c:pt>
                <c:pt idx="15">
                  <c:v>35704</c:v>
                </c:pt>
                <c:pt idx="16">
                  <c:v>35735</c:v>
                </c:pt>
                <c:pt idx="17">
                  <c:v>35765</c:v>
                </c:pt>
                <c:pt idx="18">
                  <c:v>35796</c:v>
                </c:pt>
                <c:pt idx="19">
                  <c:v>35827</c:v>
                </c:pt>
                <c:pt idx="20">
                  <c:v>35855</c:v>
                </c:pt>
                <c:pt idx="21">
                  <c:v>35886</c:v>
                </c:pt>
                <c:pt idx="22">
                  <c:v>35916</c:v>
                </c:pt>
              </c:numCache>
            </c:numRef>
          </c:cat>
          <c:val>
            <c:numRef>
              <c:f>'Revenue dynamics'!$B$3:$B$24</c:f>
              <c:numCache>
                <c:formatCode>General</c:formatCode>
                <c:ptCount val="22"/>
                <c:pt idx="0">
                  <c:v>25485.27</c:v>
                </c:pt>
                <c:pt idx="1">
                  <c:v>26381.4</c:v>
                </c:pt>
                <c:pt idx="2">
                  <c:v>37515.72</c:v>
                </c:pt>
                <c:pt idx="3">
                  <c:v>45600.04</c:v>
                </c:pt>
                <c:pt idx="4">
                  <c:v>45239.63</c:v>
                </c:pt>
                <c:pt idx="5">
                  <c:v>61258.06</c:v>
                </c:pt>
                <c:pt idx="6">
                  <c:v>38483.629999999997</c:v>
                </c:pt>
                <c:pt idx="7">
                  <c:v>38547.21</c:v>
                </c:pt>
                <c:pt idx="8">
                  <c:v>53032.95</c:v>
                </c:pt>
                <c:pt idx="9">
                  <c:v>53781.29</c:v>
                </c:pt>
                <c:pt idx="10">
                  <c:v>36362.79</c:v>
                </c:pt>
                <c:pt idx="11">
                  <c:v>51020.84</c:v>
                </c:pt>
                <c:pt idx="12">
                  <c:v>47287.67</c:v>
                </c:pt>
                <c:pt idx="13">
                  <c:v>55629.23</c:v>
                </c:pt>
                <c:pt idx="14">
                  <c:v>66749.240000000005</c:v>
                </c:pt>
                <c:pt idx="15">
                  <c:v>43533.79</c:v>
                </c:pt>
                <c:pt idx="16">
                  <c:v>71398.41</c:v>
                </c:pt>
                <c:pt idx="17">
                  <c:v>94222.12</c:v>
                </c:pt>
                <c:pt idx="18">
                  <c:v>99415.29</c:v>
                </c:pt>
                <c:pt idx="19">
                  <c:v>104854.15</c:v>
                </c:pt>
                <c:pt idx="20">
                  <c:v>123798.69</c:v>
                </c:pt>
                <c:pt idx="21">
                  <c:v>18333.64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DC0-42EB-8CAF-D8DCECDA9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4771359"/>
        <c:axId val="2114765951"/>
      </c:lineChart>
      <c:dateAx>
        <c:axId val="1932183119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32184783"/>
        <c:crosses val="autoZero"/>
        <c:auto val="1"/>
        <c:lblOffset val="100"/>
        <c:baseTimeUnit val="months"/>
      </c:dateAx>
      <c:valAx>
        <c:axId val="1932184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32183119"/>
        <c:crosses val="autoZero"/>
        <c:crossBetween val="between"/>
      </c:valAx>
      <c:valAx>
        <c:axId val="211476595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14771359"/>
        <c:crosses val="max"/>
        <c:crossBetween val="between"/>
      </c:valAx>
      <c:dateAx>
        <c:axId val="211477135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114765951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ABC-</a:t>
            </a:r>
            <a:r>
              <a:rPr lang="ru-RU" sz="2400" dirty="0"/>
              <a:t>анализ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Накопленная доля</c:v>
          </c:tx>
          <c:spPr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/>
          </c:spPr>
          <c:invertIfNegative val="0"/>
          <c:cat>
            <c:strRef>
              <c:f>'ABC-analysis'!$B$2:$B$78</c:f>
              <c:strCache>
                <c:ptCount val="77"/>
                <c:pt idx="0">
                  <c:v>Côte de Blaye</c:v>
                </c:pt>
                <c:pt idx="1">
                  <c:v>Thüringer Rostbratwurst</c:v>
                </c:pt>
                <c:pt idx="2">
                  <c:v>Raclette Courdavault</c:v>
                </c:pt>
                <c:pt idx="3">
                  <c:v>Tarte au sucre</c:v>
                </c:pt>
                <c:pt idx="4">
                  <c:v>Camembert Pierrot</c:v>
                </c:pt>
                <c:pt idx="5">
                  <c:v>Gnocchi di nonna Alice</c:v>
                </c:pt>
                <c:pt idx="6">
                  <c:v>Manjimup Dried Apples</c:v>
                </c:pt>
                <c:pt idx="7">
                  <c:v>Alice Mutton</c:v>
                </c:pt>
                <c:pt idx="8">
                  <c:v>Carnarvon Tigers</c:v>
                </c:pt>
                <c:pt idx="9">
                  <c:v>Rössle Sauerkraut</c:v>
                </c:pt>
                <c:pt idx="10">
                  <c:v>Mozzarella di Giovanni</c:v>
                </c:pt>
                <c:pt idx="11">
                  <c:v>Ipoh Coffee</c:v>
                </c:pt>
                <c:pt idx="12">
                  <c:v>Sir Rodney's Marmalade</c:v>
                </c:pt>
                <c:pt idx="13">
                  <c:v>Uncle Bob's Organic Dried Pears</c:v>
                </c:pt>
                <c:pt idx="14">
                  <c:v>Wimmers gute Semmelknödel</c:v>
                </c:pt>
                <c:pt idx="15">
                  <c:v>Gudbrandsdalsost</c:v>
                </c:pt>
                <c:pt idx="16">
                  <c:v>Ikura</c:v>
                </c:pt>
                <c:pt idx="17">
                  <c:v>Perth Pasties</c:v>
                </c:pt>
                <c:pt idx="18">
                  <c:v>Gumbär Gummibärchen</c:v>
                </c:pt>
                <c:pt idx="19">
                  <c:v>Flotemysost</c:v>
                </c:pt>
                <c:pt idx="20">
                  <c:v>Boston Crab Meat</c:v>
                </c:pt>
                <c:pt idx="21">
                  <c:v>Pâté chinois</c:v>
                </c:pt>
                <c:pt idx="22">
                  <c:v>Pavlova</c:v>
                </c:pt>
                <c:pt idx="23">
                  <c:v>Vegie-spread</c:v>
                </c:pt>
                <c:pt idx="24">
                  <c:v>Chang</c:v>
                </c:pt>
                <c:pt idx="25">
                  <c:v>Lakkalikööri</c:v>
                </c:pt>
                <c:pt idx="26">
                  <c:v>Schoggi Schokolade</c:v>
                </c:pt>
                <c:pt idx="27">
                  <c:v>Gorgonzola Telino</c:v>
                </c:pt>
                <c:pt idx="28">
                  <c:v>Sirop d'érable</c:v>
                </c:pt>
                <c:pt idx="29">
                  <c:v>Louisiana Fiery Hot Pepper Sauce</c:v>
                </c:pt>
                <c:pt idx="30">
                  <c:v>Steeleye Stout</c:v>
                </c:pt>
                <c:pt idx="31">
                  <c:v>Inlagd Sill</c:v>
                </c:pt>
                <c:pt idx="32">
                  <c:v>Nord-Ost Matjeshering</c:v>
                </c:pt>
                <c:pt idx="33">
                  <c:v>Queso Cabrales</c:v>
                </c:pt>
                <c:pt idx="34">
                  <c:v>Chai</c:v>
                </c:pt>
                <c:pt idx="35">
                  <c:v>Northwoods Cranberry Sauce</c:v>
                </c:pt>
                <c:pt idx="36">
                  <c:v>Chartreuse verte</c:v>
                </c:pt>
                <c:pt idx="37">
                  <c:v>Queso Manchego La Pastora</c:v>
                </c:pt>
                <c:pt idx="38">
                  <c:v>Outback Lager</c:v>
                </c:pt>
                <c:pt idx="39">
                  <c:v>Gula Malacca</c:v>
                </c:pt>
                <c:pt idx="40">
                  <c:v>Maxilaku</c:v>
                </c:pt>
                <c:pt idx="41">
                  <c:v>Original Frankfurter grüne Soße</c:v>
                </c:pt>
                <c:pt idx="42">
                  <c:v>Sir Rodney's Scones</c:v>
                </c:pt>
                <c:pt idx="43">
                  <c:v>Scottish Longbreads</c:v>
                </c:pt>
                <c:pt idx="44">
                  <c:v>Jack's New England Clam Chowder</c:v>
                </c:pt>
                <c:pt idx="45">
                  <c:v>Singaporean Hokkien Fried Mee</c:v>
                </c:pt>
                <c:pt idx="46">
                  <c:v>Chef Anton's Cajun Seasoning</c:v>
                </c:pt>
                <c:pt idx="47">
                  <c:v>Mascarpone Fabioli</c:v>
                </c:pt>
                <c:pt idx="48">
                  <c:v>Rhönbräu Klosterbier</c:v>
                </c:pt>
                <c:pt idx="49">
                  <c:v>Tofu</c:v>
                </c:pt>
                <c:pt idx="50">
                  <c:v>Ravioli Angelo</c:v>
                </c:pt>
                <c:pt idx="51">
                  <c:v>Mishi Kobe Niku</c:v>
                </c:pt>
                <c:pt idx="52">
                  <c:v>Grandma's Boysenberry Spread</c:v>
                </c:pt>
                <c:pt idx="53">
                  <c:v>Gustaf's Knäckebröd</c:v>
                </c:pt>
                <c:pt idx="54">
                  <c:v>Sasquatch Ale</c:v>
                </c:pt>
                <c:pt idx="55">
                  <c:v>Spegesild</c:v>
                </c:pt>
                <c:pt idx="56">
                  <c:v>Escargots de Bourgogne</c:v>
                </c:pt>
                <c:pt idx="57">
                  <c:v>Teatime Chocolate Biscuits</c:v>
                </c:pt>
                <c:pt idx="58">
                  <c:v>Chef Anton's Gumbo Mix</c:v>
                </c:pt>
                <c:pt idx="59">
                  <c:v>Konbu</c:v>
                </c:pt>
                <c:pt idx="60">
                  <c:v>Tourtière</c:v>
                </c:pt>
                <c:pt idx="61">
                  <c:v>Tunnbröd</c:v>
                </c:pt>
                <c:pt idx="62">
                  <c:v>Guaraná Fantástica</c:v>
                </c:pt>
                <c:pt idx="63">
                  <c:v>Rogede sild</c:v>
                </c:pt>
                <c:pt idx="64">
                  <c:v>Röd Kaviar</c:v>
                </c:pt>
                <c:pt idx="65">
                  <c:v>Zaanse koeken</c:v>
                </c:pt>
                <c:pt idx="66">
                  <c:v>NuNuCa Nuß-Nougat-Creme</c:v>
                </c:pt>
                <c:pt idx="67">
                  <c:v>Valkoinen suklaa</c:v>
                </c:pt>
                <c:pt idx="68">
                  <c:v>Louisiana Hot Spiced Okra</c:v>
                </c:pt>
                <c:pt idx="69">
                  <c:v>Filo Mix</c:v>
                </c:pt>
                <c:pt idx="70">
                  <c:v>Aniseed Syrup</c:v>
                </c:pt>
                <c:pt idx="71">
                  <c:v>Gravad lax</c:v>
                </c:pt>
                <c:pt idx="72">
                  <c:v>Longlife Tofu</c:v>
                </c:pt>
                <c:pt idx="73">
                  <c:v>Laughing Lumberjack Lager</c:v>
                </c:pt>
                <c:pt idx="74">
                  <c:v>Genen Shouyu</c:v>
                </c:pt>
                <c:pt idx="75">
                  <c:v>Geitost</c:v>
                </c:pt>
                <c:pt idx="76">
                  <c:v>Chocolade</c:v>
                </c:pt>
              </c:strCache>
            </c:strRef>
          </c:cat>
          <c:val>
            <c:numRef>
              <c:f>'ABC-analysis'!$C$2:$C$78</c:f>
              <c:numCache>
                <c:formatCode>0.00%</c:formatCode>
                <c:ptCount val="77"/>
                <c:pt idx="0">
                  <c:v>0.11169999999999999</c:v>
                </c:pt>
                <c:pt idx="1">
                  <c:v>0.17519999999999999</c:v>
                </c:pt>
                <c:pt idx="2">
                  <c:v>0.23139999999999999</c:v>
                </c:pt>
                <c:pt idx="3">
                  <c:v>0.26869999999999999</c:v>
                </c:pt>
                <c:pt idx="4">
                  <c:v>0.30570000000000003</c:v>
                </c:pt>
                <c:pt idx="5">
                  <c:v>0.33929999999999999</c:v>
                </c:pt>
                <c:pt idx="6">
                  <c:v>0.37229999999999996</c:v>
                </c:pt>
                <c:pt idx="7">
                  <c:v>0.39810000000000001</c:v>
                </c:pt>
                <c:pt idx="8">
                  <c:v>0.42109999999999997</c:v>
                </c:pt>
                <c:pt idx="9">
                  <c:v>0.44140000000000001</c:v>
                </c:pt>
                <c:pt idx="10">
                  <c:v>0.46110000000000001</c:v>
                </c:pt>
                <c:pt idx="11">
                  <c:v>0.47970000000000002</c:v>
                </c:pt>
                <c:pt idx="12">
                  <c:v>0.4975</c:v>
                </c:pt>
                <c:pt idx="13">
                  <c:v>0.51490000000000002</c:v>
                </c:pt>
                <c:pt idx="14">
                  <c:v>0.53220000000000001</c:v>
                </c:pt>
                <c:pt idx="15">
                  <c:v>0.54949999999999999</c:v>
                </c:pt>
                <c:pt idx="16">
                  <c:v>0.56600000000000006</c:v>
                </c:pt>
                <c:pt idx="17">
                  <c:v>0.58229999999999993</c:v>
                </c:pt>
                <c:pt idx="18">
                  <c:v>0.59799999999999998</c:v>
                </c:pt>
                <c:pt idx="19">
                  <c:v>0.61340000000000006</c:v>
                </c:pt>
                <c:pt idx="20">
                  <c:v>0.62749999999999995</c:v>
                </c:pt>
                <c:pt idx="21">
                  <c:v>0.64129999999999998</c:v>
                </c:pt>
                <c:pt idx="22">
                  <c:v>0.65489999999999993</c:v>
                </c:pt>
                <c:pt idx="23">
                  <c:v>0.66810000000000003</c:v>
                </c:pt>
                <c:pt idx="24">
                  <c:v>0.68099999999999994</c:v>
                </c:pt>
                <c:pt idx="25">
                  <c:v>0.69349999999999989</c:v>
                </c:pt>
                <c:pt idx="26">
                  <c:v>0.70540000000000003</c:v>
                </c:pt>
                <c:pt idx="27">
                  <c:v>0.71719999999999995</c:v>
                </c:pt>
                <c:pt idx="28">
                  <c:v>0.72849999999999993</c:v>
                </c:pt>
                <c:pt idx="29">
                  <c:v>0.73950000000000005</c:v>
                </c:pt>
                <c:pt idx="30">
                  <c:v>0.75029999999999997</c:v>
                </c:pt>
                <c:pt idx="31">
                  <c:v>0.76090000000000002</c:v>
                </c:pt>
                <c:pt idx="32">
                  <c:v>0.77150000000000007</c:v>
                </c:pt>
                <c:pt idx="33">
                  <c:v>0.78170000000000006</c:v>
                </c:pt>
                <c:pt idx="34">
                  <c:v>0.79180000000000006</c:v>
                </c:pt>
                <c:pt idx="35">
                  <c:v>0.80189999999999995</c:v>
                </c:pt>
                <c:pt idx="36">
                  <c:v>0.81159999999999999</c:v>
                </c:pt>
                <c:pt idx="37">
                  <c:v>0.82129999999999992</c:v>
                </c:pt>
                <c:pt idx="38">
                  <c:v>0.82969999999999999</c:v>
                </c:pt>
                <c:pt idx="39">
                  <c:v>0.83750000000000002</c:v>
                </c:pt>
                <c:pt idx="40">
                  <c:v>0.8448</c:v>
                </c:pt>
                <c:pt idx="41">
                  <c:v>0.85199999999999998</c:v>
                </c:pt>
                <c:pt idx="42">
                  <c:v>0.85919999999999996</c:v>
                </c:pt>
                <c:pt idx="43">
                  <c:v>0.86609999999999998</c:v>
                </c:pt>
                <c:pt idx="44">
                  <c:v>0.873</c:v>
                </c:pt>
                <c:pt idx="45">
                  <c:v>0.87980000000000003</c:v>
                </c:pt>
                <c:pt idx="46">
                  <c:v>0.88659999999999994</c:v>
                </c:pt>
                <c:pt idx="47">
                  <c:v>0.89319999999999988</c:v>
                </c:pt>
                <c:pt idx="48">
                  <c:v>0.89969999999999994</c:v>
                </c:pt>
                <c:pt idx="49">
                  <c:v>0.90599999999999992</c:v>
                </c:pt>
                <c:pt idx="50">
                  <c:v>0.91209999999999991</c:v>
                </c:pt>
                <c:pt idx="51">
                  <c:v>0.91780000000000006</c:v>
                </c:pt>
                <c:pt idx="52">
                  <c:v>0.9234</c:v>
                </c:pt>
                <c:pt idx="53">
                  <c:v>0.92900000000000005</c:v>
                </c:pt>
                <c:pt idx="54">
                  <c:v>0.93400000000000005</c:v>
                </c:pt>
                <c:pt idx="55">
                  <c:v>0.93859999999999999</c:v>
                </c:pt>
                <c:pt idx="56">
                  <c:v>0.94319999999999993</c:v>
                </c:pt>
                <c:pt idx="57">
                  <c:v>0.94779999999999998</c:v>
                </c:pt>
                <c:pt idx="58">
                  <c:v>0.95200000000000007</c:v>
                </c:pt>
                <c:pt idx="59">
                  <c:v>0.95590000000000008</c:v>
                </c:pt>
                <c:pt idx="60">
                  <c:v>0.9595999999999999</c:v>
                </c:pt>
                <c:pt idx="61">
                  <c:v>0.96319999999999995</c:v>
                </c:pt>
                <c:pt idx="62">
                  <c:v>0.9668000000000001</c:v>
                </c:pt>
                <c:pt idx="63">
                  <c:v>0.97019999999999995</c:v>
                </c:pt>
                <c:pt idx="64">
                  <c:v>0.97340000000000004</c:v>
                </c:pt>
                <c:pt idx="65">
                  <c:v>0.97650000000000003</c:v>
                </c:pt>
                <c:pt idx="66">
                  <c:v>0.97939999999999994</c:v>
                </c:pt>
                <c:pt idx="67">
                  <c:v>0.98209999999999997</c:v>
                </c:pt>
                <c:pt idx="68">
                  <c:v>0.98480000000000001</c:v>
                </c:pt>
                <c:pt idx="69">
                  <c:v>0.98739999999999994</c:v>
                </c:pt>
                <c:pt idx="70">
                  <c:v>0.98980000000000001</c:v>
                </c:pt>
                <c:pt idx="71">
                  <c:v>0.9919</c:v>
                </c:pt>
                <c:pt idx="72">
                  <c:v>0.99379999999999991</c:v>
                </c:pt>
                <c:pt idx="73">
                  <c:v>0.99569999999999992</c:v>
                </c:pt>
                <c:pt idx="74">
                  <c:v>0.99709999999999999</c:v>
                </c:pt>
                <c:pt idx="75">
                  <c:v>0.99840000000000007</c:v>
                </c:pt>
                <c:pt idx="76">
                  <c:v>0.99950000000000006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D1-4B36-B233-D0E8FC720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13146943"/>
        <c:axId val="2113142783"/>
      </c:barChart>
      <c:lineChart>
        <c:grouping val="standard"/>
        <c:varyColors val="0"/>
        <c:ser>
          <c:idx val="2"/>
          <c:order val="2"/>
          <c:tx>
            <c:v>A</c:v>
          </c:tx>
          <c:spPr>
            <a:ln w="28575" cap="rnd">
              <a:solidFill>
                <a:schemeClr val="tx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'ABC-analysis'!$G$2:$G$78</c:f>
              <c:numCache>
                <c:formatCode>0%</c:formatCode>
                <c:ptCount val="77"/>
                <c:pt idx="0">
                  <c:v>0.8</c:v>
                </c:pt>
                <c:pt idx="1">
                  <c:v>0.8</c:v>
                </c:pt>
                <c:pt idx="2">
                  <c:v>0.8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0.8</c:v>
                </c:pt>
                <c:pt idx="40">
                  <c:v>0.8</c:v>
                </c:pt>
                <c:pt idx="41">
                  <c:v>0.8</c:v>
                </c:pt>
                <c:pt idx="42">
                  <c:v>0.8</c:v>
                </c:pt>
                <c:pt idx="43">
                  <c:v>0.8</c:v>
                </c:pt>
                <c:pt idx="44">
                  <c:v>0.8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0.8</c:v>
                </c:pt>
                <c:pt idx="49">
                  <c:v>0.8</c:v>
                </c:pt>
                <c:pt idx="50">
                  <c:v>0.8</c:v>
                </c:pt>
                <c:pt idx="51">
                  <c:v>0.8</c:v>
                </c:pt>
                <c:pt idx="52">
                  <c:v>0.8</c:v>
                </c:pt>
                <c:pt idx="53">
                  <c:v>0.8</c:v>
                </c:pt>
                <c:pt idx="54">
                  <c:v>0.8</c:v>
                </c:pt>
                <c:pt idx="55">
                  <c:v>0.8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2D1-4B36-B233-D0E8FC7200BB}"/>
            </c:ext>
          </c:extLst>
        </c:ser>
        <c:ser>
          <c:idx val="3"/>
          <c:order val="3"/>
          <c:tx>
            <c:v>B</c:v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'ABC-analysis'!$H$2:$H$78</c:f>
              <c:numCache>
                <c:formatCode>0%</c:formatCode>
                <c:ptCount val="77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0.95</c:v>
                </c:pt>
                <c:pt idx="4">
                  <c:v>0.95</c:v>
                </c:pt>
                <c:pt idx="5">
                  <c:v>0.95</c:v>
                </c:pt>
                <c:pt idx="6">
                  <c:v>0.95</c:v>
                </c:pt>
                <c:pt idx="7">
                  <c:v>0.95</c:v>
                </c:pt>
                <c:pt idx="8">
                  <c:v>0.95</c:v>
                </c:pt>
                <c:pt idx="9">
                  <c:v>0.95</c:v>
                </c:pt>
                <c:pt idx="10">
                  <c:v>0.95</c:v>
                </c:pt>
                <c:pt idx="11">
                  <c:v>0.95</c:v>
                </c:pt>
                <c:pt idx="12">
                  <c:v>0.95</c:v>
                </c:pt>
                <c:pt idx="13">
                  <c:v>0.95</c:v>
                </c:pt>
                <c:pt idx="14">
                  <c:v>0.95</c:v>
                </c:pt>
                <c:pt idx="15">
                  <c:v>0.95</c:v>
                </c:pt>
                <c:pt idx="16">
                  <c:v>0.95</c:v>
                </c:pt>
                <c:pt idx="17">
                  <c:v>0.95</c:v>
                </c:pt>
                <c:pt idx="18">
                  <c:v>0.95</c:v>
                </c:pt>
                <c:pt idx="19">
                  <c:v>0.95</c:v>
                </c:pt>
                <c:pt idx="20">
                  <c:v>0.95</c:v>
                </c:pt>
                <c:pt idx="21">
                  <c:v>0.95</c:v>
                </c:pt>
                <c:pt idx="22">
                  <c:v>0.95</c:v>
                </c:pt>
                <c:pt idx="23">
                  <c:v>0.95</c:v>
                </c:pt>
                <c:pt idx="24">
                  <c:v>0.95</c:v>
                </c:pt>
                <c:pt idx="25">
                  <c:v>0.95</c:v>
                </c:pt>
                <c:pt idx="26">
                  <c:v>0.95</c:v>
                </c:pt>
                <c:pt idx="27">
                  <c:v>0.95</c:v>
                </c:pt>
                <c:pt idx="28">
                  <c:v>0.95</c:v>
                </c:pt>
                <c:pt idx="29">
                  <c:v>0.95</c:v>
                </c:pt>
                <c:pt idx="30">
                  <c:v>0.95</c:v>
                </c:pt>
                <c:pt idx="31">
                  <c:v>0.95</c:v>
                </c:pt>
                <c:pt idx="32">
                  <c:v>0.95</c:v>
                </c:pt>
                <c:pt idx="33">
                  <c:v>0.95</c:v>
                </c:pt>
                <c:pt idx="34">
                  <c:v>0.95</c:v>
                </c:pt>
                <c:pt idx="35">
                  <c:v>0.95</c:v>
                </c:pt>
                <c:pt idx="36">
                  <c:v>0.95</c:v>
                </c:pt>
                <c:pt idx="37">
                  <c:v>0.95</c:v>
                </c:pt>
                <c:pt idx="38">
                  <c:v>0.95</c:v>
                </c:pt>
                <c:pt idx="39">
                  <c:v>0.95</c:v>
                </c:pt>
                <c:pt idx="40">
                  <c:v>0.95</c:v>
                </c:pt>
                <c:pt idx="41">
                  <c:v>0.95</c:v>
                </c:pt>
                <c:pt idx="42">
                  <c:v>0.95</c:v>
                </c:pt>
                <c:pt idx="43">
                  <c:v>0.95</c:v>
                </c:pt>
                <c:pt idx="44">
                  <c:v>0.95</c:v>
                </c:pt>
                <c:pt idx="45">
                  <c:v>0.95</c:v>
                </c:pt>
                <c:pt idx="46">
                  <c:v>0.95</c:v>
                </c:pt>
                <c:pt idx="47">
                  <c:v>0.95</c:v>
                </c:pt>
                <c:pt idx="48">
                  <c:v>0.95</c:v>
                </c:pt>
                <c:pt idx="49">
                  <c:v>0.95</c:v>
                </c:pt>
                <c:pt idx="50">
                  <c:v>0.95</c:v>
                </c:pt>
                <c:pt idx="51">
                  <c:v>0.95</c:v>
                </c:pt>
                <c:pt idx="52">
                  <c:v>0.95</c:v>
                </c:pt>
                <c:pt idx="53">
                  <c:v>0.95</c:v>
                </c:pt>
                <c:pt idx="54">
                  <c:v>0.95</c:v>
                </c:pt>
                <c:pt idx="55">
                  <c:v>0.95</c:v>
                </c:pt>
                <c:pt idx="56">
                  <c:v>0.95</c:v>
                </c:pt>
                <c:pt idx="57">
                  <c:v>0.95</c:v>
                </c:pt>
                <c:pt idx="58">
                  <c:v>0.95</c:v>
                </c:pt>
                <c:pt idx="59">
                  <c:v>0.95</c:v>
                </c:pt>
                <c:pt idx="60">
                  <c:v>0.95</c:v>
                </c:pt>
                <c:pt idx="61">
                  <c:v>0.95</c:v>
                </c:pt>
                <c:pt idx="62">
                  <c:v>0.95</c:v>
                </c:pt>
                <c:pt idx="63">
                  <c:v>0.95</c:v>
                </c:pt>
                <c:pt idx="64">
                  <c:v>0.95</c:v>
                </c:pt>
                <c:pt idx="65">
                  <c:v>0.95</c:v>
                </c:pt>
                <c:pt idx="66">
                  <c:v>0.95</c:v>
                </c:pt>
                <c:pt idx="67">
                  <c:v>0.95</c:v>
                </c:pt>
                <c:pt idx="68">
                  <c:v>0.95</c:v>
                </c:pt>
                <c:pt idx="69">
                  <c:v>0.95</c:v>
                </c:pt>
                <c:pt idx="70">
                  <c:v>0.95</c:v>
                </c:pt>
                <c:pt idx="71">
                  <c:v>0.95</c:v>
                </c:pt>
                <c:pt idx="72">
                  <c:v>0.95</c:v>
                </c:pt>
                <c:pt idx="73">
                  <c:v>0.95</c:v>
                </c:pt>
                <c:pt idx="74">
                  <c:v>0.95</c:v>
                </c:pt>
                <c:pt idx="75">
                  <c:v>0.95</c:v>
                </c:pt>
                <c:pt idx="76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2D1-4B36-B233-D0E8FC7200BB}"/>
            </c:ext>
          </c:extLst>
        </c:ser>
        <c:ser>
          <c:idx val="4"/>
          <c:order val="4"/>
          <c:tx>
            <c:v>C</c:v>
          </c:tx>
          <c:spPr>
            <a:ln w="28575" cap="rnd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'ABC-analysis'!$B$2:$B$78</c:f>
              <c:strCache>
                <c:ptCount val="77"/>
                <c:pt idx="0">
                  <c:v>Côte de Blaye</c:v>
                </c:pt>
                <c:pt idx="1">
                  <c:v>Thüringer Rostbratwurst</c:v>
                </c:pt>
                <c:pt idx="2">
                  <c:v>Raclette Courdavault</c:v>
                </c:pt>
                <c:pt idx="3">
                  <c:v>Tarte au sucre</c:v>
                </c:pt>
                <c:pt idx="4">
                  <c:v>Camembert Pierrot</c:v>
                </c:pt>
                <c:pt idx="5">
                  <c:v>Gnocchi di nonna Alice</c:v>
                </c:pt>
                <c:pt idx="6">
                  <c:v>Manjimup Dried Apples</c:v>
                </c:pt>
                <c:pt idx="7">
                  <c:v>Alice Mutton</c:v>
                </c:pt>
                <c:pt idx="8">
                  <c:v>Carnarvon Tigers</c:v>
                </c:pt>
                <c:pt idx="9">
                  <c:v>Rössle Sauerkraut</c:v>
                </c:pt>
                <c:pt idx="10">
                  <c:v>Mozzarella di Giovanni</c:v>
                </c:pt>
                <c:pt idx="11">
                  <c:v>Ipoh Coffee</c:v>
                </c:pt>
                <c:pt idx="12">
                  <c:v>Sir Rodney's Marmalade</c:v>
                </c:pt>
                <c:pt idx="13">
                  <c:v>Uncle Bob's Organic Dried Pears</c:v>
                </c:pt>
                <c:pt idx="14">
                  <c:v>Wimmers gute Semmelknödel</c:v>
                </c:pt>
                <c:pt idx="15">
                  <c:v>Gudbrandsdalsost</c:v>
                </c:pt>
                <c:pt idx="16">
                  <c:v>Ikura</c:v>
                </c:pt>
                <c:pt idx="17">
                  <c:v>Perth Pasties</c:v>
                </c:pt>
                <c:pt idx="18">
                  <c:v>Gumbär Gummibärchen</c:v>
                </c:pt>
                <c:pt idx="19">
                  <c:v>Flotemysost</c:v>
                </c:pt>
                <c:pt idx="20">
                  <c:v>Boston Crab Meat</c:v>
                </c:pt>
                <c:pt idx="21">
                  <c:v>Pâté chinois</c:v>
                </c:pt>
                <c:pt idx="22">
                  <c:v>Pavlova</c:v>
                </c:pt>
                <c:pt idx="23">
                  <c:v>Vegie-spread</c:v>
                </c:pt>
                <c:pt idx="24">
                  <c:v>Chang</c:v>
                </c:pt>
                <c:pt idx="25">
                  <c:v>Lakkalikööri</c:v>
                </c:pt>
                <c:pt idx="26">
                  <c:v>Schoggi Schokolade</c:v>
                </c:pt>
                <c:pt idx="27">
                  <c:v>Gorgonzola Telino</c:v>
                </c:pt>
                <c:pt idx="28">
                  <c:v>Sirop d'érable</c:v>
                </c:pt>
                <c:pt idx="29">
                  <c:v>Louisiana Fiery Hot Pepper Sauce</c:v>
                </c:pt>
                <c:pt idx="30">
                  <c:v>Steeleye Stout</c:v>
                </c:pt>
                <c:pt idx="31">
                  <c:v>Inlagd Sill</c:v>
                </c:pt>
                <c:pt idx="32">
                  <c:v>Nord-Ost Matjeshering</c:v>
                </c:pt>
                <c:pt idx="33">
                  <c:v>Queso Cabrales</c:v>
                </c:pt>
                <c:pt idx="34">
                  <c:v>Chai</c:v>
                </c:pt>
                <c:pt idx="35">
                  <c:v>Northwoods Cranberry Sauce</c:v>
                </c:pt>
                <c:pt idx="36">
                  <c:v>Chartreuse verte</c:v>
                </c:pt>
                <c:pt idx="37">
                  <c:v>Queso Manchego La Pastora</c:v>
                </c:pt>
                <c:pt idx="38">
                  <c:v>Outback Lager</c:v>
                </c:pt>
                <c:pt idx="39">
                  <c:v>Gula Malacca</c:v>
                </c:pt>
                <c:pt idx="40">
                  <c:v>Maxilaku</c:v>
                </c:pt>
                <c:pt idx="41">
                  <c:v>Original Frankfurter grüne Soße</c:v>
                </c:pt>
                <c:pt idx="42">
                  <c:v>Sir Rodney's Scones</c:v>
                </c:pt>
                <c:pt idx="43">
                  <c:v>Scottish Longbreads</c:v>
                </c:pt>
                <c:pt idx="44">
                  <c:v>Jack's New England Clam Chowder</c:v>
                </c:pt>
                <c:pt idx="45">
                  <c:v>Singaporean Hokkien Fried Mee</c:v>
                </c:pt>
                <c:pt idx="46">
                  <c:v>Chef Anton's Cajun Seasoning</c:v>
                </c:pt>
                <c:pt idx="47">
                  <c:v>Mascarpone Fabioli</c:v>
                </c:pt>
                <c:pt idx="48">
                  <c:v>Rhönbräu Klosterbier</c:v>
                </c:pt>
                <c:pt idx="49">
                  <c:v>Tofu</c:v>
                </c:pt>
                <c:pt idx="50">
                  <c:v>Ravioli Angelo</c:v>
                </c:pt>
                <c:pt idx="51">
                  <c:v>Mishi Kobe Niku</c:v>
                </c:pt>
                <c:pt idx="52">
                  <c:v>Grandma's Boysenberry Spread</c:v>
                </c:pt>
                <c:pt idx="53">
                  <c:v>Gustaf's Knäckebröd</c:v>
                </c:pt>
                <c:pt idx="54">
                  <c:v>Sasquatch Ale</c:v>
                </c:pt>
                <c:pt idx="55">
                  <c:v>Spegesild</c:v>
                </c:pt>
                <c:pt idx="56">
                  <c:v>Escargots de Bourgogne</c:v>
                </c:pt>
                <c:pt idx="57">
                  <c:v>Teatime Chocolate Biscuits</c:v>
                </c:pt>
                <c:pt idx="58">
                  <c:v>Chef Anton's Gumbo Mix</c:v>
                </c:pt>
                <c:pt idx="59">
                  <c:v>Konbu</c:v>
                </c:pt>
                <c:pt idx="60">
                  <c:v>Tourtière</c:v>
                </c:pt>
                <c:pt idx="61">
                  <c:v>Tunnbröd</c:v>
                </c:pt>
                <c:pt idx="62">
                  <c:v>Guaraná Fantástica</c:v>
                </c:pt>
                <c:pt idx="63">
                  <c:v>Rogede sild</c:v>
                </c:pt>
                <c:pt idx="64">
                  <c:v>Röd Kaviar</c:v>
                </c:pt>
                <c:pt idx="65">
                  <c:v>Zaanse koeken</c:v>
                </c:pt>
                <c:pt idx="66">
                  <c:v>NuNuCa Nuß-Nougat-Creme</c:v>
                </c:pt>
                <c:pt idx="67">
                  <c:v>Valkoinen suklaa</c:v>
                </c:pt>
                <c:pt idx="68">
                  <c:v>Louisiana Hot Spiced Okra</c:v>
                </c:pt>
                <c:pt idx="69">
                  <c:v>Filo Mix</c:v>
                </c:pt>
                <c:pt idx="70">
                  <c:v>Aniseed Syrup</c:v>
                </c:pt>
                <c:pt idx="71">
                  <c:v>Gravad lax</c:v>
                </c:pt>
                <c:pt idx="72">
                  <c:v>Longlife Tofu</c:v>
                </c:pt>
                <c:pt idx="73">
                  <c:v>Laughing Lumberjack Lager</c:v>
                </c:pt>
                <c:pt idx="74">
                  <c:v>Genen Shouyu</c:v>
                </c:pt>
                <c:pt idx="75">
                  <c:v>Geitost</c:v>
                </c:pt>
                <c:pt idx="76">
                  <c:v>Chocolade</c:v>
                </c:pt>
              </c:strCache>
            </c:strRef>
          </c:cat>
          <c:val>
            <c:numRef>
              <c:f>'ABC-analysis'!$I$2:$I$78</c:f>
              <c:numCache>
                <c:formatCode>0%</c:formatCode>
                <c:ptCount val="7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2D1-4B36-B233-D0E8FC720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146943"/>
        <c:axId val="2113142783"/>
      </c:lineChart>
      <c:lineChart>
        <c:grouping val="standard"/>
        <c:varyColors val="0"/>
        <c:ser>
          <c:idx val="1"/>
          <c:order val="1"/>
          <c:tx>
            <c:v>Выручка по продукту</c:v>
          </c:tx>
          <c:spPr>
            <a:ln w="28575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'ABC-analysis'!$B$2:$B$78</c:f>
              <c:strCache>
                <c:ptCount val="77"/>
                <c:pt idx="0">
                  <c:v>Côte de Blaye</c:v>
                </c:pt>
                <c:pt idx="1">
                  <c:v>Thüringer Rostbratwurst</c:v>
                </c:pt>
                <c:pt idx="2">
                  <c:v>Raclette Courdavault</c:v>
                </c:pt>
                <c:pt idx="3">
                  <c:v>Tarte au sucre</c:v>
                </c:pt>
                <c:pt idx="4">
                  <c:v>Camembert Pierrot</c:v>
                </c:pt>
                <c:pt idx="5">
                  <c:v>Gnocchi di nonna Alice</c:v>
                </c:pt>
                <c:pt idx="6">
                  <c:v>Manjimup Dried Apples</c:v>
                </c:pt>
                <c:pt idx="7">
                  <c:v>Alice Mutton</c:v>
                </c:pt>
                <c:pt idx="8">
                  <c:v>Carnarvon Tigers</c:v>
                </c:pt>
                <c:pt idx="9">
                  <c:v>Rössle Sauerkraut</c:v>
                </c:pt>
                <c:pt idx="10">
                  <c:v>Mozzarella di Giovanni</c:v>
                </c:pt>
                <c:pt idx="11">
                  <c:v>Ipoh Coffee</c:v>
                </c:pt>
                <c:pt idx="12">
                  <c:v>Sir Rodney's Marmalade</c:v>
                </c:pt>
                <c:pt idx="13">
                  <c:v>Uncle Bob's Organic Dried Pears</c:v>
                </c:pt>
                <c:pt idx="14">
                  <c:v>Wimmers gute Semmelknödel</c:v>
                </c:pt>
                <c:pt idx="15">
                  <c:v>Gudbrandsdalsost</c:v>
                </c:pt>
                <c:pt idx="16">
                  <c:v>Ikura</c:v>
                </c:pt>
                <c:pt idx="17">
                  <c:v>Perth Pasties</c:v>
                </c:pt>
                <c:pt idx="18">
                  <c:v>Gumbär Gummibärchen</c:v>
                </c:pt>
                <c:pt idx="19">
                  <c:v>Flotemysost</c:v>
                </c:pt>
                <c:pt idx="20">
                  <c:v>Boston Crab Meat</c:v>
                </c:pt>
                <c:pt idx="21">
                  <c:v>Pâté chinois</c:v>
                </c:pt>
                <c:pt idx="22">
                  <c:v>Pavlova</c:v>
                </c:pt>
                <c:pt idx="23">
                  <c:v>Vegie-spread</c:v>
                </c:pt>
                <c:pt idx="24">
                  <c:v>Chang</c:v>
                </c:pt>
                <c:pt idx="25">
                  <c:v>Lakkalikööri</c:v>
                </c:pt>
                <c:pt idx="26">
                  <c:v>Schoggi Schokolade</c:v>
                </c:pt>
                <c:pt idx="27">
                  <c:v>Gorgonzola Telino</c:v>
                </c:pt>
                <c:pt idx="28">
                  <c:v>Sirop d'érable</c:v>
                </c:pt>
                <c:pt idx="29">
                  <c:v>Louisiana Fiery Hot Pepper Sauce</c:v>
                </c:pt>
                <c:pt idx="30">
                  <c:v>Steeleye Stout</c:v>
                </c:pt>
                <c:pt idx="31">
                  <c:v>Inlagd Sill</c:v>
                </c:pt>
                <c:pt idx="32">
                  <c:v>Nord-Ost Matjeshering</c:v>
                </c:pt>
                <c:pt idx="33">
                  <c:v>Queso Cabrales</c:v>
                </c:pt>
                <c:pt idx="34">
                  <c:v>Chai</c:v>
                </c:pt>
                <c:pt idx="35">
                  <c:v>Northwoods Cranberry Sauce</c:v>
                </c:pt>
                <c:pt idx="36">
                  <c:v>Chartreuse verte</c:v>
                </c:pt>
                <c:pt idx="37">
                  <c:v>Queso Manchego La Pastora</c:v>
                </c:pt>
                <c:pt idx="38">
                  <c:v>Outback Lager</c:v>
                </c:pt>
                <c:pt idx="39">
                  <c:v>Gula Malacca</c:v>
                </c:pt>
                <c:pt idx="40">
                  <c:v>Maxilaku</c:v>
                </c:pt>
                <c:pt idx="41">
                  <c:v>Original Frankfurter grüne Soße</c:v>
                </c:pt>
                <c:pt idx="42">
                  <c:v>Sir Rodney's Scones</c:v>
                </c:pt>
                <c:pt idx="43">
                  <c:v>Scottish Longbreads</c:v>
                </c:pt>
                <c:pt idx="44">
                  <c:v>Jack's New England Clam Chowder</c:v>
                </c:pt>
                <c:pt idx="45">
                  <c:v>Singaporean Hokkien Fried Mee</c:v>
                </c:pt>
                <c:pt idx="46">
                  <c:v>Chef Anton's Cajun Seasoning</c:v>
                </c:pt>
                <c:pt idx="47">
                  <c:v>Mascarpone Fabioli</c:v>
                </c:pt>
                <c:pt idx="48">
                  <c:v>Rhönbräu Klosterbier</c:v>
                </c:pt>
                <c:pt idx="49">
                  <c:v>Tofu</c:v>
                </c:pt>
                <c:pt idx="50">
                  <c:v>Ravioli Angelo</c:v>
                </c:pt>
                <c:pt idx="51">
                  <c:v>Mishi Kobe Niku</c:v>
                </c:pt>
                <c:pt idx="52">
                  <c:v>Grandma's Boysenberry Spread</c:v>
                </c:pt>
                <c:pt idx="53">
                  <c:v>Gustaf's Knäckebröd</c:v>
                </c:pt>
                <c:pt idx="54">
                  <c:v>Sasquatch Ale</c:v>
                </c:pt>
                <c:pt idx="55">
                  <c:v>Spegesild</c:v>
                </c:pt>
                <c:pt idx="56">
                  <c:v>Escargots de Bourgogne</c:v>
                </c:pt>
                <c:pt idx="57">
                  <c:v>Teatime Chocolate Biscuits</c:v>
                </c:pt>
                <c:pt idx="58">
                  <c:v>Chef Anton's Gumbo Mix</c:v>
                </c:pt>
                <c:pt idx="59">
                  <c:v>Konbu</c:v>
                </c:pt>
                <c:pt idx="60">
                  <c:v>Tourtière</c:v>
                </c:pt>
                <c:pt idx="61">
                  <c:v>Tunnbröd</c:v>
                </c:pt>
                <c:pt idx="62">
                  <c:v>Guaraná Fantástica</c:v>
                </c:pt>
                <c:pt idx="63">
                  <c:v>Rogede sild</c:v>
                </c:pt>
                <c:pt idx="64">
                  <c:v>Röd Kaviar</c:v>
                </c:pt>
                <c:pt idx="65">
                  <c:v>Zaanse koeken</c:v>
                </c:pt>
                <c:pt idx="66">
                  <c:v>NuNuCa Nuß-Nougat-Creme</c:v>
                </c:pt>
                <c:pt idx="67">
                  <c:v>Valkoinen suklaa</c:v>
                </c:pt>
                <c:pt idx="68">
                  <c:v>Louisiana Hot Spiced Okra</c:v>
                </c:pt>
                <c:pt idx="69">
                  <c:v>Filo Mix</c:v>
                </c:pt>
                <c:pt idx="70">
                  <c:v>Aniseed Syrup</c:v>
                </c:pt>
                <c:pt idx="71">
                  <c:v>Gravad lax</c:v>
                </c:pt>
                <c:pt idx="72">
                  <c:v>Longlife Tofu</c:v>
                </c:pt>
                <c:pt idx="73">
                  <c:v>Laughing Lumberjack Lager</c:v>
                </c:pt>
                <c:pt idx="74">
                  <c:v>Genen Shouyu</c:v>
                </c:pt>
                <c:pt idx="75">
                  <c:v>Geitost</c:v>
                </c:pt>
                <c:pt idx="76">
                  <c:v>Chocolade</c:v>
                </c:pt>
              </c:strCache>
            </c:strRef>
          </c:cat>
          <c:val>
            <c:numRef>
              <c:f>'ABC-analysis'!$E$2:$E$78</c:f>
              <c:numCache>
                <c:formatCode>General</c:formatCode>
                <c:ptCount val="77"/>
                <c:pt idx="0">
                  <c:v>12788.1</c:v>
                </c:pt>
                <c:pt idx="1">
                  <c:v>16355.96</c:v>
                </c:pt>
                <c:pt idx="2">
                  <c:v>3044</c:v>
                </c:pt>
                <c:pt idx="3">
                  <c:v>8567.9</c:v>
                </c:pt>
                <c:pt idx="4">
                  <c:v>5347.2</c:v>
                </c:pt>
                <c:pt idx="5">
                  <c:v>7137</c:v>
                </c:pt>
                <c:pt idx="6">
                  <c:v>22044.3</c:v>
                </c:pt>
                <c:pt idx="7">
                  <c:v>12772</c:v>
                </c:pt>
                <c:pt idx="8">
                  <c:v>7226.5</c:v>
                </c:pt>
                <c:pt idx="9">
                  <c:v>20867.34</c:v>
                </c:pt>
                <c:pt idx="10">
                  <c:v>12901.77</c:v>
                </c:pt>
                <c:pt idx="11">
                  <c:v>12257.66</c:v>
                </c:pt>
                <c:pt idx="12">
                  <c:v>4960.4399999999996</c:v>
                </c:pt>
                <c:pt idx="13">
                  <c:v>7991.49</c:v>
                </c:pt>
                <c:pt idx="14">
                  <c:v>1784.82</c:v>
                </c:pt>
                <c:pt idx="15">
                  <c:v>17215.78</c:v>
                </c:pt>
                <c:pt idx="16">
                  <c:v>32698.38</c:v>
                </c:pt>
                <c:pt idx="17">
                  <c:v>29171.87</c:v>
                </c:pt>
                <c:pt idx="18">
                  <c:v>5862.62</c:v>
                </c:pt>
                <c:pt idx="19">
                  <c:v>22563.360000000001</c:v>
                </c:pt>
                <c:pt idx="20">
                  <c:v>9104</c:v>
                </c:pt>
                <c:pt idx="21">
                  <c:v>7122.36</c:v>
                </c:pt>
                <c:pt idx="22">
                  <c:v>4601.7</c:v>
                </c:pt>
                <c:pt idx="23">
                  <c:v>4504.3599999999997</c:v>
                </c:pt>
                <c:pt idx="24">
                  <c:v>3704.4</c:v>
                </c:pt>
                <c:pt idx="25">
                  <c:v>19849.14</c:v>
                </c:pt>
                <c:pt idx="26">
                  <c:v>15099.88</c:v>
                </c:pt>
                <c:pt idx="27">
                  <c:v>25696.639999999999</c:v>
                </c:pt>
                <c:pt idx="28">
                  <c:v>80368.67</c:v>
                </c:pt>
                <c:pt idx="29">
                  <c:v>13424.2</c:v>
                </c:pt>
                <c:pt idx="30">
                  <c:v>14920.87</c:v>
                </c:pt>
                <c:pt idx="31">
                  <c:v>8404.16</c:v>
                </c:pt>
                <c:pt idx="32">
                  <c:v>1648.12</c:v>
                </c:pt>
                <c:pt idx="33">
                  <c:v>6350.4</c:v>
                </c:pt>
                <c:pt idx="34">
                  <c:v>13644</c:v>
                </c:pt>
                <c:pt idx="35">
                  <c:v>13458.46</c:v>
                </c:pt>
                <c:pt idx="36">
                  <c:v>2688.4</c:v>
                </c:pt>
                <c:pt idx="37">
                  <c:v>141396.74</c:v>
                </c:pt>
                <c:pt idx="38">
                  <c:v>12294.54</c:v>
                </c:pt>
                <c:pt idx="39">
                  <c:v>17910.63</c:v>
                </c:pt>
                <c:pt idx="40">
                  <c:v>8680.34</c:v>
                </c:pt>
                <c:pt idx="41">
                  <c:v>8575</c:v>
                </c:pt>
                <c:pt idx="42">
                  <c:v>23526.7</c:v>
                </c:pt>
                <c:pt idx="43">
                  <c:v>9915.9500000000007</c:v>
                </c:pt>
                <c:pt idx="44">
                  <c:v>4338.17</c:v>
                </c:pt>
                <c:pt idx="45">
                  <c:v>5883</c:v>
                </c:pt>
                <c:pt idx="46">
                  <c:v>3958.08</c:v>
                </c:pt>
                <c:pt idx="47">
                  <c:v>1368.71</c:v>
                </c:pt>
                <c:pt idx="48">
                  <c:v>9244.6</c:v>
                </c:pt>
                <c:pt idx="49">
                  <c:v>3437.69</c:v>
                </c:pt>
                <c:pt idx="50">
                  <c:v>41819.65</c:v>
                </c:pt>
                <c:pt idx="51">
                  <c:v>3232.95</c:v>
                </c:pt>
                <c:pt idx="52">
                  <c:v>20574.169999999998</c:v>
                </c:pt>
                <c:pt idx="53">
                  <c:v>4728.24</c:v>
                </c:pt>
                <c:pt idx="54">
                  <c:v>17426.400000000001</c:v>
                </c:pt>
                <c:pt idx="55">
                  <c:v>42593.06</c:v>
                </c:pt>
                <c:pt idx="56">
                  <c:v>7661.55</c:v>
                </c:pt>
                <c:pt idx="57">
                  <c:v>5881.68</c:v>
                </c:pt>
                <c:pt idx="58">
                  <c:v>71155.7</c:v>
                </c:pt>
                <c:pt idx="59">
                  <c:v>46825.48</c:v>
                </c:pt>
                <c:pt idx="60">
                  <c:v>14352.6</c:v>
                </c:pt>
                <c:pt idx="61">
                  <c:v>47234.97</c:v>
                </c:pt>
                <c:pt idx="62">
                  <c:v>16701.099999999999</c:v>
                </c:pt>
                <c:pt idx="63">
                  <c:v>21957.97</c:v>
                </c:pt>
                <c:pt idx="64">
                  <c:v>13869.89</c:v>
                </c:pt>
                <c:pt idx="65">
                  <c:v>3383</c:v>
                </c:pt>
                <c:pt idx="66">
                  <c:v>2396.8000000000002</c:v>
                </c:pt>
                <c:pt idx="67">
                  <c:v>8714</c:v>
                </c:pt>
                <c:pt idx="68">
                  <c:v>21942.36</c:v>
                </c:pt>
                <c:pt idx="69">
                  <c:v>10672.65</c:v>
                </c:pt>
                <c:pt idx="70">
                  <c:v>19551.03</c:v>
                </c:pt>
                <c:pt idx="71">
                  <c:v>24900.13</c:v>
                </c:pt>
                <c:pt idx="72">
                  <c:v>3997.2</c:v>
                </c:pt>
                <c:pt idx="73">
                  <c:v>2432.5</c:v>
                </c:pt>
                <c:pt idx="74">
                  <c:v>8177.49</c:v>
                </c:pt>
                <c:pt idx="75">
                  <c:v>15760.44</c:v>
                </c:pt>
                <c:pt idx="76">
                  <c:v>9171.6299999999992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2D1-4B36-B233-D0E8FC720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3143199"/>
        <c:axId val="2113141119"/>
      </c:lineChart>
      <c:catAx>
        <c:axId val="2113146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13142783"/>
        <c:crosses val="autoZero"/>
        <c:auto val="1"/>
        <c:lblAlgn val="ctr"/>
        <c:lblOffset val="100"/>
        <c:noMultiLvlLbl val="0"/>
      </c:catAx>
      <c:valAx>
        <c:axId val="2113142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13146943"/>
        <c:crosses val="autoZero"/>
        <c:crossBetween val="between"/>
      </c:valAx>
      <c:valAx>
        <c:axId val="2113141119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13143199"/>
        <c:crosses val="max"/>
        <c:crossBetween val="between"/>
      </c:valAx>
      <c:catAx>
        <c:axId val="211314319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113141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Категории</a:t>
            </a:r>
            <a:r>
              <a:rPr lang="ru-RU" baseline="0"/>
              <a:t> товаров, %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177-42FC-AFDD-6E8B69201ED8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177-42FC-AFDD-6E8B69201ED8}"/>
              </c:ext>
            </c:extLst>
          </c:dPt>
          <c:dPt>
            <c:idx val="2"/>
            <c:bubble3D val="0"/>
            <c:spPr>
              <a:solidFill>
                <a:schemeClr val="accent1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177-42FC-AFDD-6E8B69201ED8}"/>
              </c:ext>
            </c:extLst>
          </c:dPt>
          <c:dLbls>
            <c:dLbl>
              <c:idx val="0"/>
              <c:layout>
                <c:manualLayout>
                  <c:x val="-0.27997373528009994"/>
                  <c:y val="3.9695505639527076E-2"/>
                </c:manualLayout>
              </c:layout>
              <c:tx>
                <c:rich>
                  <a:bodyPr/>
                  <a:lstStyle/>
                  <a:p>
                    <a:fld id="{1D51B953-0E05-48B1-96C1-03429984B3E2}" type="VALUE">
                      <a:rPr lang="en-US" sz="1200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77-42FC-AFDD-6E8B69201ED8}"/>
                </c:ext>
              </c:extLst>
            </c:dLbl>
            <c:dLbl>
              <c:idx val="1"/>
              <c:layout>
                <c:manualLayout>
                  <c:x val="0.1365755924506728"/>
                  <c:y val="-0.15862684620628692"/>
                </c:manualLayout>
              </c:layout>
              <c:tx>
                <c:rich>
                  <a:bodyPr/>
                  <a:lstStyle/>
                  <a:p>
                    <a:fld id="{67F0C4F9-8837-49EB-91BD-9F5C997A8CFB}" type="VALUE">
                      <a:rPr lang="en-US" sz="1200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177-42FC-AFDD-6E8B69201ED8}"/>
                </c:ext>
              </c:extLst>
            </c:dLbl>
            <c:dLbl>
              <c:idx val="2"/>
              <c:layout>
                <c:manualLayout>
                  <c:x val="0.13264226995001932"/>
                  <c:y val="0.14858148140860275"/>
                </c:manualLayout>
              </c:layout>
              <c:tx>
                <c:rich>
                  <a:bodyPr/>
                  <a:lstStyle/>
                  <a:p>
                    <a:fld id="{ECF7E670-18E4-4100-AF24-78F6126DB3FB}" type="VALUE">
                      <a:rPr lang="en-US" sz="1200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177-42FC-AFDD-6E8B69201E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'ABC-analysis'!$N$2:$N$4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'ABC-analysis'!$O$2:$O$4</c:f>
              <c:numCache>
                <c:formatCode>General</c:formatCode>
                <c:ptCount val="3"/>
                <c:pt idx="0">
                  <c:v>35</c:v>
                </c:pt>
                <c:pt idx="1">
                  <c:v>23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177-42FC-AFDD-6E8B69201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ABC</a:t>
            </a:r>
            <a:r>
              <a:rPr lang="ru-RU"/>
              <a:t>-анализ</a:t>
            </a:r>
            <a:r>
              <a:rPr lang="ru-RU" baseline="0"/>
              <a:t> по категориям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Выручка по категориям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'ABC-analysis'!$L$64:$L$71</c:f>
              <c:strCache>
                <c:ptCount val="8"/>
                <c:pt idx="0">
                  <c:v>Beverages</c:v>
                </c:pt>
                <c:pt idx="1">
                  <c:v>Dairy Products</c:v>
                </c:pt>
                <c:pt idx="2">
                  <c:v>Confections</c:v>
                </c:pt>
                <c:pt idx="3">
                  <c:v>Meat/Poultry</c:v>
                </c:pt>
                <c:pt idx="4">
                  <c:v>Seafood</c:v>
                </c:pt>
                <c:pt idx="5">
                  <c:v>Condiments</c:v>
                </c:pt>
                <c:pt idx="6">
                  <c:v>Produce</c:v>
                </c:pt>
                <c:pt idx="7">
                  <c:v>Grains/Cereals</c:v>
                </c:pt>
              </c:strCache>
            </c:strRef>
          </c:cat>
          <c:val>
            <c:numRef>
              <c:f>'ABC-analysis'!$M$64:$M$71</c:f>
              <c:numCache>
                <c:formatCode>0.00</c:formatCode>
                <c:ptCount val="8"/>
                <c:pt idx="0">
                  <c:v>267868.18</c:v>
                </c:pt>
                <c:pt idx="1">
                  <c:v>234507.28</c:v>
                </c:pt>
                <c:pt idx="2">
                  <c:v>167357.23000000001</c:v>
                </c:pt>
                <c:pt idx="3">
                  <c:v>163022.35999999999</c:v>
                </c:pt>
                <c:pt idx="4">
                  <c:v>131261.74</c:v>
                </c:pt>
                <c:pt idx="5">
                  <c:v>106047.08</c:v>
                </c:pt>
                <c:pt idx="6">
                  <c:v>99984.58</c:v>
                </c:pt>
                <c:pt idx="7">
                  <c:v>95744.59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3B-4B09-9335-3C00246BB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2683199"/>
        <c:axId val="1942684031"/>
      </c:barChart>
      <c:lineChart>
        <c:grouping val="standard"/>
        <c:varyColors val="0"/>
        <c:ser>
          <c:idx val="1"/>
          <c:order val="1"/>
          <c:tx>
            <c:v>Доля выручки</c:v>
          </c:tx>
          <c:spPr>
            <a:ln w="2857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accent1">
                    <a:lumMod val="40000"/>
                    <a:lumOff val="60000"/>
                  </a:schemeClr>
                </a:solidFill>
              </a:ln>
              <a:effectLst/>
            </c:spPr>
          </c:marker>
          <c:dLbls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3B-4B09-9335-3C00246BBE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'ABC-analysis'!$L$64:$L$71</c:f>
              <c:strCache>
                <c:ptCount val="8"/>
                <c:pt idx="0">
                  <c:v>Beverages</c:v>
                </c:pt>
                <c:pt idx="1">
                  <c:v>Dairy Products</c:v>
                </c:pt>
                <c:pt idx="2">
                  <c:v>Confections</c:v>
                </c:pt>
                <c:pt idx="3">
                  <c:v>Meat/Poultry</c:v>
                </c:pt>
                <c:pt idx="4">
                  <c:v>Seafood</c:v>
                </c:pt>
                <c:pt idx="5">
                  <c:v>Condiments</c:v>
                </c:pt>
                <c:pt idx="6">
                  <c:v>Produce</c:v>
                </c:pt>
                <c:pt idx="7">
                  <c:v>Grains/Cereals</c:v>
                </c:pt>
              </c:strCache>
            </c:strRef>
          </c:cat>
          <c:val>
            <c:numRef>
              <c:f>'ABC-analysis'!$O$64:$O$71</c:f>
              <c:numCache>
                <c:formatCode>0.00%</c:formatCode>
                <c:ptCount val="8"/>
                <c:pt idx="0">
                  <c:v>0.21160000000000001</c:v>
                </c:pt>
                <c:pt idx="1">
                  <c:v>0.39689999999999998</c:v>
                </c:pt>
                <c:pt idx="2">
                  <c:v>0.52910000000000001</c:v>
                </c:pt>
                <c:pt idx="3">
                  <c:v>0.65790000000000004</c:v>
                </c:pt>
                <c:pt idx="4">
                  <c:v>0.76159999999999994</c:v>
                </c:pt>
                <c:pt idx="5">
                  <c:v>0.84540000000000004</c:v>
                </c:pt>
                <c:pt idx="6">
                  <c:v>0.9244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3B-4B09-9335-3C00246BB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2686111"/>
        <c:axId val="1942685279"/>
      </c:lineChart>
      <c:catAx>
        <c:axId val="1942683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42684031"/>
        <c:crosses val="autoZero"/>
        <c:auto val="1"/>
        <c:lblAlgn val="ctr"/>
        <c:lblOffset val="100"/>
        <c:noMultiLvlLbl val="0"/>
      </c:catAx>
      <c:valAx>
        <c:axId val="1942684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42683199"/>
        <c:crosses val="autoZero"/>
        <c:crossBetween val="between"/>
      </c:valAx>
      <c:valAx>
        <c:axId val="1942685279"/>
        <c:scaling>
          <c:orientation val="minMax"/>
          <c:max val="1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42686111"/>
        <c:crosses val="max"/>
        <c:crossBetween val="between"/>
      </c:valAx>
      <c:catAx>
        <c:axId val="19426861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426852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RFM-</a:t>
            </a:r>
            <a:r>
              <a:rPr lang="ru-RU" b="1"/>
              <a:t>анализ,</a:t>
            </a:r>
            <a:r>
              <a:rPr lang="ru-RU" b="1" baseline="0"/>
              <a:t> категории клиентов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'RFM-analysis'!$L$13:$L$20</c:f>
              <c:strCache>
                <c:ptCount val="8"/>
                <c:pt idx="0">
                  <c:v>VIP</c:v>
                </c:pt>
                <c:pt idx="1">
                  <c:v>Loyal</c:v>
                </c:pt>
                <c:pt idx="2">
                  <c:v>Promising</c:v>
                </c:pt>
                <c:pt idx="3">
                  <c:v>New</c:v>
                </c:pt>
                <c:pt idx="4">
                  <c:v>Needs attention</c:v>
                </c:pt>
                <c:pt idx="5">
                  <c:v>Hibernating</c:v>
                </c:pt>
                <c:pt idx="6">
                  <c:v>Lost</c:v>
                </c:pt>
                <c:pt idx="7">
                  <c:v>Cant lose them</c:v>
                </c:pt>
              </c:strCache>
            </c:strRef>
          </c:cat>
          <c:val>
            <c:numRef>
              <c:f>'RFM-analysis'!$M$13:$M$20</c:f>
              <c:numCache>
                <c:formatCode>General</c:formatCode>
                <c:ptCount val="8"/>
                <c:pt idx="0">
                  <c:v>30</c:v>
                </c:pt>
                <c:pt idx="1">
                  <c:v>2</c:v>
                </c:pt>
                <c:pt idx="2">
                  <c:v>11</c:v>
                </c:pt>
                <c:pt idx="3">
                  <c:v>2</c:v>
                </c:pt>
                <c:pt idx="4">
                  <c:v>15</c:v>
                </c:pt>
                <c:pt idx="5">
                  <c:v>15</c:v>
                </c:pt>
                <c:pt idx="6">
                  <c:v>11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40-4442-AAA1-C8D6F4DA3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32096031"/>
        <c:axId val="2132099775"/>
      </c:barChart>
      <c:catAx>
        <c:axId val="2132096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32099775"/>
        <c:crosses val="autoZero"/>
        <c:auto val="1"/>
        <c:lblAlgn val="ctr"/>
        <c:lblOffset val="100"/>
        <c:noMultiLvlLbl val="0"/>
      </c:catAx>
      <c:valAx>
        <c:axId val="2132099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320960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Категории</a:t>
            </a:r>
            <a:r>
              <a:rPr lang="ru-RU" baseline="0"/>
              <a:t> клиентов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shade val="4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728-4603-A71B-8B461743C67A}"/>
              </c:ext>
            </c:extLst>
          </c:dPt>
          <c:dPt>
            <c:idx val="1"/>
            <c:bubble3D val="0"/>
            <c:spPr>
              <a:solidFill>
                <a:schemeClr val="accent1">
                  <a:shade val="61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728-4603-A71B-8B461743C67A}"/>
              </c:ext>
            </c:extLst>
          </c:dPt>
          <c:dPt>
            <c:idx val="2"/>
            <c:bubble3D val="0"/>
            <c:spPr>
              <a:solidFill>
                <a:schemeClr val="accent1">
                  <a:shade val="7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728-4603-A71B-8B461743C67A}"/>
              </c:ext>
            </c:extLst>
          </c:dPt>
          <c:dPt>
            <c:idx val="3"/>
            <c:bubble3D val="0"/>
            <c:spPr>
              <a:solidFill>
                <a:schemeClr val="accent1">
                  <a:shade val="92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728-4603-A71B-8B461743C67A}"/>
              </c:ext>
            </c:extLst>
          </c:dPt>
          <c:dPt>
            <c:idx val="4"/>
            <c:bubble3D val="0"/>
            <c:spPr>
              <a:solidFill>
                <a:schemeClr val="accent1">
                  <a:tint val="93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728-4603-A71B-8B461743C67A}"/>
              </c:ext>
            </c:extLst>
          </c:dPt>
          <c:dPt>
            <c:idx val="5"/>
            <c:bubble3D val="0"/>
            <c:spPr>
              <a:solidFill>
                <a:schemeClr val="accent1">
                  <a:tint val="7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728-4603-A71B-8B461743C67A}"/>
              </c:ext>
            </c:extLst>
          </c:dPt>
          <c:dPt>
            <c:idx val="6"/>
            <c:bubble3D val="0"/>
            <c:spPr>
              <a:solidFill>
                <a:schemeClr val="accent1">
                  <a:tint val="62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C728-4603-A71B-8B461743C67A}"/>
              </c:ext>
            </c:extLst>
          </c:dPt>
          <c:dPt>
            <c:idx val="7"/>
            <c:bubble3D val="0"/>
            <c:spPr>
              <a:solidFill>
                <a:schemeClr val="accent1">
                  <a:tint val="4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C728-4603-A71B-8B461743C67A}"/>
              </c:ext>
            </c:extLst>
          </c:dPt>
          <c:dLbls>
            <c:dLbl>
              <c:idx val="0"/>
              <c:layout>
                <c:manualLayout>
                  <c:x val="-0.13624435580436467"/>
                  <c:y val="8.605715111895984E-2"/>
                </c:manualLayout>
              </c:layout>
              <c:tx>
                <c:rich>
                  <a:bodyPr/>
                  <a:lstStyle/>
                  <a:p>
                    <a:fld id="{E7DEA7A0-37D2-4A8A-A242-5900F61F0F1F}" type="VALUE">
                      <a:rPr lang="en-US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728-4603-A71B-8B461743C67A}"/>
                </c:ext>
              </c:extLst>
            </c:dLbl>
            <c:dLbl>
              <c:idx val="1"/>
              <c:layout>
                <c:manualLayout>
                  <c:x val="-0.11146926990904293"/>
                  <c:y val="-6.6763513521266721E-2"/>
                </c:manualLayout>
              </c:layout>
              <c:tx>
                <c:rich>
                  <a:bodyPr/>
                  <a:lstStyle/>
                  <a:p>
                    <a:fld id="{2B39E6AB-FFD1-4368-B9B1-BC4F3A35C3C7}" type="VALUE">
                      <a:rPr lang="en-US"/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728-4603-A71B-8B461743C67A}"/>
                </c:ext>
              </c:extLst>
            </c:dLbl>
            <c:dLbl>
              <c:idx val="2"/>
              <c:layout>
                <c:manualLayout>
                  <c:x val="-0.10685983888361969"/>
                  <c:y val="-0.12551467103624997"/>
                </c:manualLayout>
              </c:layout>
              <c:tx>
                <c:rich>
                  <a:bodyPr/>
                  <a:lstStyle/>
                  <a:p>
                    <a:fld id="{D1A1E3C3-F7EC-48CF-A5AB-1AD7E7661199}" type="VALUE">
                      <a:rPr lang="en-US"/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728-4603-A71B-8B461743C67A}"/>
                </c:ext>
              </c:extLst>
            </c:dLbl>
            <c:dLbl>
              <c:idx val="3"/>
              <c:layout>
                <c:manualLayout>
                  <c:x val="-2.5699087124679578E-2"/>
                  <c:y val="-0.10757551243346092"/>
                </c:manualLayout>
              </c:layout>
              <c:tx>
                <c:rich>
                  <a:bodyPr/>
                  <a:lstStyle/>
                  <a:p>
                    <a:fld id="{17146C23-0AD3-495C-BF9A-5A191B4AA892}" type="VALUE">
                      <a:rPr lang="en-US"/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C728-4603-A71B-8B461743C67A}"/>
                </c:ext>
              </c:extLst>
            </c:dLbl>
            <c:dLbl>
              <c:idx val="4"/>
              <c:layout>
                <c:manualLayout>
                  <c:x val="0.10909185043693978"/>
                  <c:y val="-0.12069596628260693"/>
                </c:manualLayout>
              </c:layout>
              <c:tx>
                <c:rich>
                  <a:bodyPr/>
                  <a:lstStyle/>
                  <a:p>
                    <a:fld id="{DD224516-F089-4EBF-A6AB-49823A815780}" type="VALUE">
                      <a:rPr lang="en-US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C728-4603-A71B-8B461743C67A}"/>
                </c:ext>
              </c:extLst>
            </c:dLbl>
            <c:dLbl>
              <c:idx val="5"/>
              <c:layout>
                <c:manualLayout>
                  <c:x val="7.4421315038373362E-2"/>
                  <c:y val="-8.5943551135483475E-3"/>
                </c:manualLayout>
              </c:layout>
              <c:tx>
                <c:rich>
                  <a:bodyPr/>
                  <a:lstStyle/>
                  <a:p>
                    <a:fld id="{188F2245-7AAC-44ED-8AE3-E1743B5E8543}" type="VALUE">
                      <a:rPr lang="en-US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C728-4603-A71B-8B461743C67A}"/>
                </c:ext>
              </c:extLst>
            </c:dLbl>
            <c:dLbl>
              <c:idx val="6"/>
              <c:layout>
                <c:manualLayout>
                  <c:x val="0.12559322575350493"/>
                  <c:y val="0.12826034821263615"/>
                </c:manualLayout>
              </c:layout>
              <c:tx>
                <c:rich>
                  <a:bodyPr/>
                  <a:lstStyle/>
                  <a:p>
                    <a:fld id="{DFB1803F-2FF5-43BA-BDFE-9F057210F83A}" type="VALUE">
                      <a:rPr lang="en-US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C728-4603-A71B-8B461743C67A}"/>
                </c:ext>
              </c:extLst>
            </c:dLbl>
            <c:dLbl>
              <c:idx val="7"/>
              <c:layout>
                <c:manualLayout>
                  <c:x val="3.4476658173522322E-2"/>
                  <c:y val="9.9844517194332849E-2"/>
                </c:manualLayout>
              </c:layout>
              <c:tx>
                <c:rich>
                  <a:bodyPr/>
                  <a:lstStyle/>
                  <a:p>
                    <a:fld id="{F69D9B80-E42A-408D-A5E9-DE10659810A6}" type="VALUE">
                      <a:rPr lang="en-US"/>
                      <a:pPr/>
                      <a:t>[ЗНАЧЕНИЕ]</a:t>
                    </a:fld>
                    <a:endParaRPr lang="ru-RU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C728-4603-A71B-8B461743C67A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'RFM-analysis'!$L$13:$L$20</c:f>
              <c:strCache>
                <c:ptCount val="8"/>
                <c:pt idx="0">
                  <c:v>VIP</c:v>
                </c:pt>
                <c:pt idx="1">
                  <c:v>Loyal</c:v>
                </c:pt>
                <c:pt idx="2">
                  <c:v>Promising</c:v>
                </c:pt>
                <c:pt idx="3">
                  <c:v>New</c:v>
                </c:pt>
                <c:pt idx="4">
                  <c:v>Needs attention</c:v>
                </c:pt>
                <c:pt idx="5">
                  <c:v>Hibernating</c:v>
                </c:pt>
                <c:pt idx="6">
                  <c:v>Lost</c:v>
                </c:pt>
                <c:pt idx="7">
                  <c:v>Cant lose them</c:v>
                </c:pt>
              </c:strCache>
            </c:strRef>
          </c:cat>
          <c:val>
            <c:numRef>
              <c:f>'RFM-analysis'!$N$13:$N$20</c:f>
              <c:numCache>
                <c:formatCode>0.00%</c:formatCode>
                <c:ptCount val="8"/>
                <c:pt idx="0">
                  <c:v>0.32967032967032966</c:v>
                </c:pt>
                <c:pt idx="1">
                  <c:v>2.197802197802198E-2</c:v>
                </c:pt>
                <c:pt idx="2">
                  <c:v>0.12087912087912088</c:v>
                </c:pt>
                <c:pt idx="3">
                  <c:v>2.197802197802198E-2</c:v>
                </c:pt>
                <c:pt idx="4">
                  <c:v>0.16483516483516483</c:v>
                </c:pt>
                <c:pt idx="5">
                  <c:v>0.16483516483516483</c:v>
                </c:pt>
                <c:pt idx="6">
                  <c:v>0.12087912087912088</c:v>
                </c:pt>
                <c:pt idx="7">
                  <c:v>5.4945054945054944E-2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728-4603-A71B-8B461743C67A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[NorthWind _PetProject.xlsx]Retention rate &amp; LTV!Сводная таблица1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накопленного </a:t>
            </a:r>
            <a:r>
              <a:rPr lang="en-US"/>
              <a:t>LTV </a:t>
            </a:r>
            <a:r>
              <a:rPr lang="ru-RU"/>
              <a:t>по когортам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28575" cap="rnd">
            <a:solidFill>
              <a:schemeClr val="accent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  <a:effectLst/>
          </c:spPr>
        </c:marker>
      </c:pivotFmt>
      <c:pivotFmt>
        <c:idx val="4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28575" cap="rnd">
            <a:solidFill>
              <a:schemeClr val="accent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28575" cap="rnd">
            <a:solidFill>
              <a:schemeClr val="accent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50000"/>
              </a:schemeClr>
            </a:solidFill>
            <a:ln w="9525">
              <a:solidFill>
                <a:schemeClr val="accent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28575" cap="rnd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'Retention rate &amp; LTV'!$I$3:$I$4</c:f>
              <c:strCache>
                <c:ptCount val="1"/>
                <c:pt idx="0">
                  <c:v>01.07.1996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'Retention rate &amp; LTV'!$H$5:$H$28</c:f>
              <c:strCach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strCache>
            </c:strRef>
          </c:cat>
          <c:val>
            <c:numRef>
              <c:f>'Retention rate &amp; LTV'!$I$5:$I$28</c:f>
              <c:numCache>
                <c:formatCode>General</c:formatCode>
                <c:ptCount val="23"/>
                <c:pt idx="0">
                  <c:v>1393.09</c:v>
                </c:pt>
                <c:pt idx="1">
                  <c:v>1680.88</c:v>
                </c:pt>
                <c:pt idx="2">
                  <c:v>2139.87</c:v>
                </c:pt>
                <c:pt idx="3">
                  <c:v>2522.65</c:v>
                </c:pt>
                <c:pt idx="4">
                  <c:v>3442.33</c:v>
                </c:pt>
                <c:pt idx="5">
                  <c:v>3997.41</c:v>
                </c:pt>
                <c:pt idx="6">
                  <c:v>4976.6499999999996</c:v>
                </c:pt>
                <c:pt idx="7">
                  <c:v>5770.38</c:v>
                </c:pt>
                <c:pt idx="8">
                  <c:v>6817.3</c:v>
                </c:pt>
                <c:pt idx="9">
                  <c:v>7474.36</c:v>
                </c:pt>
                <c:pt idx="10">
                  <c:v>8191.92</c:v>
                </c:pt>
                <c:pt idx="11">
                  <c:v>8827.82</c:v>
                </c:pt>
                <c:pt idx="12">
                  <c:v>9475.14</c:v>
                </c:pt>
                <c:pt idx="13">
                  <c:v>10151.34</c:v>
                </c:pt>
                <c:pt idx="14">
                  <c:v>10823.32</c:v>
                </c:pt>
                <c:pt idx="15">
                  <c:v>11452.24</c:v>
                </c:pt>
                <c:pt idx="16">
                  <c:v>11995.47</c:v>
                </c:pt>
                <c:pt idx="17">
                  <c:v>13528.72</c:v>
                </c:pt>
                <c:pt idx="18">
                  <c:v>14863.48</c:v>
                </c:pt>
                <c:pt idx="19">
                  <c:v>16316.83</c:v>
                </c:pt>
                <c:pt idx="20">
                  <c:v>18366.310000000001</c:v>
                </c:pt>
                <c:pt idx="21">
                  <c:v>20974.68</c:v>
                </c:pt>
                <c:pt idx="22">
                  <c:v>21369.71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41C-44F3-A6E0-412D00741AB4}"/>
            </c:ext>
          </c:extLst>
        </c:ser>
        <c:ser>
          <c:idx val="1"/>
          <c:order val="1"/>
          <c:tx>
            <c:strRef>
              <c:f>'Retention rate &amp; LTV'!$J$3:$J$4</c:f>
              <c:strCache>
                <c:ptCount val="1"/>
                <c:pt idx="0">
                  <c:v>01.10.1996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9525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cat>
            <c:strRef>
              <c:f>'Retention rate &amp; LTV'!$H$5:$H$28</c:f>
              <c:strCach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strCache>
            </c:strRef>
          </c:cat>
          <c:val>
            <c:numRef>
              <c:f>'Retention rate &amp; LTV'!$J$5:$J$28</c:f>
              <c:numCache>
                <c:formatCode>General</c:formatCode>
                <c:ptCount val="23"/>
                <c:pt idx="0">
                  <c:v>1944.71</c:v>
                </c:pt>
                <c:pt idx="1">
                  <c:v>2195.23</c:v>
                </c:pt>
                <c:pt idx="2">
                  <c:v>2881.71</c:v>
                </c:pt>
                <c:pt idx="3">
                  <c:v>5146.4799999999996</c:v>
                </c:pt>
                <c:pt idx="4">
                  <c:v>6370.19</c:v>
                </c:pt>
                <c:pt idx="5">
                  <c:v>7060.67</c:v>
                </c:pt>
                <c:pt idx="6">
                  <c:v>8020.4</c:v>
                </c:pt>
                <c:pt idx="7">
                  <c:v>8349.82</c:v>
                </c:pt>
                <c:pt idx="8">
                  <c:v>9114.7900000000009</c:v>
                </c:pt>
                <c:pt idx="9">
                  <c:v>11312.01</c:v>
                </c:pt>
                <c:pt idx="10">
                  <c:v>12061.21</c:v>
                </c:pt>
                <c:pt idx="11">
                  <c:v>13551.98</c:v>
                </c:pt>
                <c:pt idx="12">
                  <c:v>15562.12</c:v>
                </c:pt>
                <c:pt idx="13">
                  <c:v>16458.87</c:v>
                </c:pt>
                <c:pt idx="14">
                  <c:v>17294.78</c:v>
                </c:pt>
                <c:pt idx="15">
                  <c:v>19265.400000000001</c:v>
                </c:pt>
                <c:pt idx="16">
                  <c:v>20603.63</c:v>
                </c:pt>
                <c:pt idx="17">
                  <c:v>21600.61</c:v>
                </c:pt>
                <c:pt idx="18">
                  <c:v>24135</c:v>
                </c:pt>
                <c:pt idx="19">
                  <c:v>24763.360000000001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41C-44F3-A6E0-412D00741AB4}"/>
            </c:ext>
          </c:extLst>
        </c:ser>
        <c:ser>
          <c:idx val="2"/>
          <c:order val="2"/>
          <c:tx>
            <c:strRef>
              <c:f>'Retention rate &amp; LTV'!$K$3:$K$4</c:f>
              <c:strCache>
                <c:ptCount val="1"/>
                <c:pt idx="0">
                  <c:v>01.01.1997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'Retention rate &amp; LTV'!$H$5:$H$28</c:f>
              <c:strCache>
                <c:ptCount val="2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</c:strCache>
            </c:strRef>
          </c:cat>
          <c:val>
            <c:numRef>
              <c:f>'Retention rate &amp; LTV'!$K$5:$K$28</c:f>
              <c:numCache>
                <c:formatCode>General</c:formatCode>
                <c:ptCount val="23"/>
                <c:pt idx="0">
                  <c:v>682.28</c:v>
                </c:pt>
                <c:pt idx="2">
                  <c:v>1150.28</c:v>
                </c:pt>
                <c:pt idx="4">
                  <c:v>1172.28</c:v>
                </c:pt>
                <c:pt idx="7">
                  <c:v>2713.39</c:v>
                </c:pt>
                <c:pt idx="8">
                  <c:v>2937.38</c:v>
                </c:pt>
                <c:pt idx="9">
                  <c:v>3801.96</c:v>
                </c:pt>
                <c:pt idx="10">
                  <c:v>4489.2299999999996</c:v>
                </c:pt>
                <c:pt idx="11">
                  <c:v>5542.81</c:v>
                </c:pt>
                <c:pt idx="12">
                  <c:v>6143.13</c:v>
                </c:pt>
                <c:pt idx="13">
                  <c:v>6149.13</c:v>
                </c:pt>
                <c:pt idx="14">
                  <c:v>7332.14</c:v>
                </c:pt>
                <c:pt idx="15">
                  <c:v>8312.7000000000007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41C-44F3-A6E0-412D00741A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806656"/>
        <c:axId val="169803744"/>
      </c:lineChart>
      <c:catAx>
        <c:axId val="169806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803744"/>
        <c:crosses val="autoZero"/>
        <c:auto val="1"/>
        <c:lblAlgn val="ctr"/>
        <c:lblOffset val="100"/>
        <c:noMultiLvlLbl val="0"/>
      </c:catAx>
      <c:valAx>
        <c:axId val="169803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80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Стоимость запасов по категориям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'Supply Chain Analysis'!$O$1</c:f>
              <c:strCache>
                <c:ptCount val="1"/>
                <c:pt idx="0">
                  <c:v>category_stock_value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341-495B-9122-025CC8592ED6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41-495B-9122-025CC8592ED6}"/>
              </c:ext>
            </c:extLst>
          </c:dPt>
          <c:cat>
            <c:strRef>
              <c:f>'Supply Chain Analysis'!$M$2:$M$9</c:f>
              <c:strCache>
                <c:ptCount val="8"/>
                <c:pt idx="0">
                  <c:v>Grains/Cereals</c:v>
                </c:pt>
                <c:pt idx="1">
                  <c:v>Beverages</c:v>
                </c:pt>
                <c:pt idx="2">
                  <c:v>Dairy Products</c:v>
                </c:pt>
                <c:pt idx="3">
                  <c:v>Seafood</c:v>
                </c:pt>
                <c:pt idx="4">
                  <c:v>Produce</c:v>
                </c:pt>
                <c:pt idx="5">
                  <c:v>Condiments</c:v>
                </c:pt>
                <c:pt idx="6">
                  <c:v>Meat/Poultry</c:v>
                </c:pt>
                <c:pt idx="7">
                  <c:v>Confections</c:v>
                </c:pt>
              </c:strCache>
            </c:strRef>
          </c:cat>
          <c:val>
            <c:numRef>
              <c:f>'Supply Chain Analysis'!$O$2:$O$9</c:f>
              <c:numCache>
                <c:formatCode>General</c:formatCode>
                <c:ptCount val="8"/>
                <c:pt idx="0">
                  <c:v>5594.5</c:v>
                </c:pt>
                <c:pt idx="1">
                  <c:v>12480.25</c:v>
                </c:pt>
                <c:pt idx="2">
                  <c:v>11271.2</c:v>
                </c:pt>
                <c:pt idx="3">
                  <c:v>13010.35</c:v>
                </c:pt>
                <c:pt idx="4">
                  <c:v>3549.35</c:v>
                </c:pt>
                <c:pt idx="5">
                  <c:v>11926.05</c:v>
                </c:pt>
                <c:pt idx="6">
                  <c:v>5729.45</c:v>
                </c:pt>
                <c:pt idx="7">
                  <c:v>10392.200000000001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41-495B-9122-025CC8592E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564208"/>
        <c:axId val="122570032"/>
      </c:barChart>
      <c:catAx>
        <c:axId val="128564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2570032"/>
        <c:crosses val="autoZero"/>
        <c:auto val="1"/>
        <c:lblAlgn val="ctr"/>
        <c:lblOffset val="100"/>
        <c:noMultiLvlLbl val="0"/>
      </c:catAx>
      <c:valAx>
        <c:axId val="122570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8564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Эффективность поставщиков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Доля просроченных заказов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'Shippers KPI'!$B$2:$B$4</c:f>
              <c:strCache>
                <c:ptCount val="3"/>
                <c:pt idx="0">
                  <c:v>United Package</c:v>
                </c:pt>
                <c:pt idx="1">
                  <c:v>Speedy Express</c:v>
                </c:pt>
                <c:pt idx="2">
                  <c:v>Federal Shipping</c:v>
                </c:pt>
              </c:strCache>
            </c:strRef>
          </c:cat>
          <c:val>
            <c:numRef>
              <c:f>'Shippers KPI'!$E$2:$E$4</c:f>
              <c:numCache>
                <c:formatCode>0.00%</c:formatCode>
                <c:ptCount val="3"/>
                <c:pt idx="0">
                  <c:v>4.9100000000000005E-2</c:v>
                </c:pt>
                <c:pt idx="1">
                  <c:v>4.82E-2</c:v>
                </c:pt>
                <c:pt idx="2">
                  <c:v>3.5299999999999998E-2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F2-4C39-BA99-082EE8E6D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297104"/>
        <c:axId val="137296272"/>
      </c:barChart>
      <c:lineChart>
        <c:grouping val="standard"/>
        <c:varyColors val="0"/>
        <c:ser>
          <c:idx val="1"/>
          <c:order val="1"/>
          <c:tx>
            <c:v>Средняя стоимость перевозки</c:v>
          </c:tx>
          <c:spPr>
            <a:ln w="28575" cap="rnd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5079618959450984E-2"/>
                  <c:y val="-3.18494353849734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F2-4C39-BA99-082EE8E6D2AD}"/>
                </c:ext>
              </c:extLst>
            </c:dLbl>
            <c:dLbl>
              <c:idx val="1"/>
              <c:layout>
                <c:manualLayout>
                  <c:x val="-2.4001844551203307E-2"/>
                  <c:y val="3.4744838601789216E-2"/>
                </c:manualLayout>
              </c:layout>
              <c:tx>
                <c:rich>
                  <a:bodyPr/>
                  <a:lstStyle/>
                  <a:p>
                    <a:fld id="{1E67DA04-8CFE-42CA-B6D2-793F3D914344}" type="VALUE">
                      <a:rPr lang="en-US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8F2-4C39-BA99-082EE8E6D2AD}"/>
                </c:ext>
              </c:extLst>
            </c:dLbl>
            <c:dLbl>
              <c:idx val="2"/>
              <c:layout>
                <c:manualLayout>
                  <c:x val="-3.1387027490035094E-2"/>
                  <c:y val="-3.76402418186050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F2-4C39-BA99-082EE8E6D2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'Shippers KPI'!$B$2:$B$4</c:f>
              <c:strCache>
                <c:ptCount val="3"/>
                <c:pt idx="0">
                  <c:v>United Package</c:v>
                </c:pt>
                <c:pt idx="1">
                  <c:v>Speedy Express</c:v>
                </c:pt>
                <c:pt idx="2">
                  <c:v>Federal Shipping</c:v>
                </c:pt>
              </c:strCache>
            </c:strRef>
          </c:cat>
          <c:val>
            <c:numRef>
              <c:f>'Shippers KPI'!$F$2:$F$4</c:f>
              <c:numCache>
                <c:formatCode>General</c:formatCode>
                <c:ptCount val="3"/>
                <c:pt idx="0">
                  <c:v>86.64</c:v>
                </c:pt>
                <c:pt idx="1">
                  <c:v>65</c:v>
                </c:pt>
                <c:pt idx="2">
                  <c:v>80.44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8F2-4C39-BA99-082EE8E6D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43118495"/>
        <c:axId val="2143117663"/>
      </c:lineChart>
      <c:catAx>
        <c:axId val="13729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7296272"/>
        <c:crosses val="autoZero"/>
        <c:auto val="1"/>
        <c:lblAlgn val="ctr"/>
        <c:lblOffset val="100"/>
        <c:noMultiLvlLbl val="0"/>
      </c:catAx>
      <c:valAx>
        <c:axId val="137296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7297104"/>
        <c:crosses val="autoZero"/>
        <c:crossBetween val="between"/>
      </c:valAx>
      <c:valAx>
        <c:axId val="214311766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43118495"/>
        <c:crosses val="max"/>
        <c:crossBetween val="between"/>
      </c:valAx>
      <c:catAx>
        <c:axId val="21431184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14311766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Эффективность</a:t>
            </a:r>
            <a:r>
              <a:rPr lang="ru-RU" baseline="0"/>
              <a:t> персонала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bg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C4B-4A7B-BC8B-23A1EDDA1AC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C4B-4A7B-BC8B-23A1EDDA1AC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C4B-4A7B-BC8B-23A1EDDA1ACA}"/>
              </c:ext>
            </c:extLst>
          </c:dPt>
          <c:cat>
            <c:strRef>
              <c:f>'Employees KPI'!$B$2:$B$10</c:f>
              <c:strCache>
                <c:ptCount val="9"/>
                <c:pt idx="0">
                  <c:v>Margaret Peacock</c:v>
                </c:pt>
                <c:pt idx="1">
                  <c:v>Janet Leverling</c:v>
                </c:pt>
                <c:pt idx="2">
                  <c:v>Nancy Davolio</c:v>
                </c:pt>
                <c:pt idx="3">
                  <c:v>Andrew Fuller</c:v>
                </c:pt>
                <c:pt idx="4">
                  <c:v>Laura Callahan</c:v>
                </c:pt>
                <c:pt idx="5">
                  <c:v>Robert King</c:v>
                </c:pt>
                <c:pt idx="6">
                  <c:v>Anne Dodsworth</c:v>
                </c:pt>
                <c:pt idx="7">
                  <c:v>Michael Suyama</c:v>
                </c:pt>
                <c:pt idx="8">
                  <c:v>Steven Buchanan</c:v>
                </c:pt>
              </c:strCache>
            </c:strRef>
          </c:cat>
          <c:val>
            <c:numRef>
              <c:f>'Employees KPI'!$D$2:$D$10</c:f>
              <c:numCache>
                <c:formatCode>General</c:formatCode>
                <c:ptCount val="9"/>
                <c:pt idx="0">
                  <c:v>232890.85</c:v>
                </c:pt>
                <c:pt idx="1">
                  <c:v>202812.84</c:v>
                </c:pt>
                <c:pt idx="2">
                  <c:v>192107.6</c:v>
                </c:pt>
                <c:pt idx="3">
                  <c:v>166537.76</c:v>
                </c:pt>
                <c:pt idx="4">
                  <c:v>126862.28</c:v>
                </c:pt>
                <c:pt idx="5">
                  <c:v>124568.23</c:v>
                </c:pt>
                <c:pt idx="6">
                  <c:v>77308.070000000007</c:v>
                </c:pt>
                <c:pt idx="7">
                  <c:v>73913.13</c:v>
                </c:pt>
                <c:pt idx="8">
                  <c:v>68792.28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C4B-4A7B-BC8B-23A1EDDA1A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9804160"/>
        <c:axId val="169800832"/>
      </c:barChart>
      <c:catAx>
        <c:axId val="1698041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800832"/>
        <c:crosses val="autoZero"/>
        <c:auto val="1"/>
        <c:lblAlgn val="ctr"/>
        <c:lblOffset val="100"/>
        <c:noMultiLvlLbl val="0"/>
      </c:catAx>
      <c:valAx>
        <c:axId val="169800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980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49309-EBBA-4D42-B9BF-F0E078FBD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FA7124-828B-45F3-9994-697B37AA7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04B65-182C-41E9-A6FA-380BEE8E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54B3E6-51DF-4051-BBA6-B61758CC4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78B84-57E9-4AC3-A655-681789F9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888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82A17-9B94-4121-86D4-9A317F661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EEE737-FEAC-4BEE-B471-05B6C9A08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FDBC91-8199-4279-863E-89D14E06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A1822B-5785-4F6E-BB5C-97C7D3DA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8D378-07B5-42DB-B0CA-57A320B5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346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4BB2F6-2799-4A03-B4B6-575B44528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625370-9B0F-4ED2-AE71-E2FAA231F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DADC49-610B-4B60-96A4-16E4E277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B3358-41BC-40D8-9CB5-4476E6F8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E8AC17-EB4A-4913-9183-A2930E28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42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40CA7-0414-4EA1-BA29-F7F5C40D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16830C-0011-4244-9260-30298EBDF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37D541-F68A-425B-A010-C604BAB07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053B30-1EFA-43DE-9B1B-87FA7BF58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276680-413D-4247-A040-2ED76025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9483EE-122A-4455-AACE-62B48A0DD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65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3BB9C-57BC-4107-A9D0-263E2BC0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21141C-2FA3-45D8-B82C-BBD3DEFD5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26D6C7-FAD1-428B-BEA1-787CFC884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EB24CD-2489-45EF-A9FD-D5457F1AE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4AF211-B2B8-41C5-82C1-91CD579ED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0B4D33-8EC8-4DEC-BDCE-53DAFEB5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395583C-BA54-49F9-A7B9-A59C9FFB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4021D3-2ADC-4DAE-983A-AEC35430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12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5403C-D806-49B1-9EAF-1C96CAE3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2B6EEA-DD57-4CCB-BB94-7D71DE83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8CD3E0-1A47-4EC3-9FDF-7700FD62A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E552AA-1015-432C-8E41-FBF8ED1B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757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DEA16CA-6A6C-4924-8138-B29C2506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7A1131-0B43-4A31-A040-6B667B34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6EFCBA-969B-4C0D-80E7-5965F57C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6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C3039-91A3-49CA-9E8D-CB29284D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72C45D-C61A-48EF-81E8-D1E4C9A9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6A474D-1E53-40BF-871A-4619FFCCD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170C94-2409-458F-AC0C-E8767138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E7EE06-D50A-4C2A-8239-303CA54C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D0BE61-8CC5-468A-9916-F48C0C3F5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45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4A1123-ED67-41E6-9B60-7CAB8ACE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56C25F-F2F5-4E0A-ACC3-BDC1C1811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428A65-D900-45C3-9F60-02160C7EB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0C6CD2-8303-4AF1-9C47-24168AED2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31A4C4-34E9-4265-A18A-76F365C3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20B2BD-D2A9-469E-84DB-FE4E2C97C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480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CD0EE-582D-4DFF-ACB3-A2968DD4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C9C8A6-009D-4606-B10E-E00D67799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F3EE70-401F-40E5-B94D-F88CE26D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4557B-BFDB-4B23-8548-9023E313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6609CD-005A-4C69-871B-961C29F3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160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AD7DF5-0E9E-4CD5-A8C6-5E3E580D3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A7460C5-231D-4BBF-B6C1-F359FD44A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F92D01-07BC-4A1E-930B-050AE5CE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81C160-0B75-4CEE-86A5-CB5280D9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41620A-6930-4891-8345-8FBC59D3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86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B5978-7A7A-4EF8-BA5E-47A3A90E0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F531BC-A7EE-4331-823F-D98653211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232AD7-7796-457F-B4DA-1B740697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4117B-CE30-4E1E-8EAC-962F0588F925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9EBBE8-C030-4A06-A0BC-5A7AF8002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27902E-2106-4162-8F37-E37EC255B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C7EAE-F915-4881-93BA-2F42D52263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73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CC0C2D-8B1B-4BDC-B1CB-C320AC9B3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84" y="424991"/>
            <a:ext cx="7949849" cy="437224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C73A52-FDE7-4CBA-9A31-F8229C50D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889" y="1128778"/>
            <a:ext cx="4243865" cy="1001685"/>
          </a:xfrm>
        </p:spPr>
        <p:txBody>
          <a:bodyPr>
            <a:noAutofit/>
          </a:bodyPr>
          <a:lstStyle/>
          <a:p>
            <a:r>
              <a:rPr lang="en-US" sz="6600" dirty="0" err="1">
                <a:latin typeface="Baskerville Old Face" panose="02020602080505020303" pitchFamily="18" charset="0"/>
              </a:rPr>
              <a:t>NorthWind</a:t>
            </a:r>
            <a:endParaRPr lang="ru-RU" sz="6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60157A-9390-4923-8B0A-925887E1F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174" y="4073460"/>
            <a:ext cx="4751294" cy="1655762"/>
          </a:xfrm>
        </p:spPr>
        <p:txBody>
          <a:bodyPr/>
          <a:lstStyle/>
          <a:p>
            <a:r>
              <a:rPr lang="en-US" dirty="0">
                <a:latin typeface="+mj-lt"/>
              </a:rPr>
              <a:t>Revenue dynamics, ABC-analysis, RFM-analysis, Retention rate &amp; LTV, Supply Chain Analysis, Shippers KPI, Employees KPI</a:t>
            </a:r>
            <a:endParaRPr lang="ru-RU" dirty="0">
              <a:latin typeface="+mj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57F68B0-0B13-4B40-9BB2-AD46B7A6DE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652" r="34270"/>
          <a:stretch/>
        </p:blipFill>
        <p:spPr>
          <a:xfrm>
            <a:off x="8286750" y="0"/>
            <a:ext cx="3905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47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5ED84-AB39-4ECC-9701-5BF2E58F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Динамика выручки и сезонность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C39A8AA7-B12C-4B5E-8F6D-D2295126F0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5374843"/>
              </p:ext>
            </p:extLst>
          </p:nvPr>
        </p:nvGraphicFramePr>
        <p:xfrm>
          <a:off x="1404937" y="999179"/>
          <a:ext cx="9424428" cy="4738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5FC0261-5589-4E47-84A3-AC910ECAAE1F}"/>
              </a:ext>
            </a:extLst>
          </p:cNvPr>
          <p:cNvSpPr txBox="1"/>
          <p:nvPr/>
        </p:nvSpPr>
        <p:spPr>
          <a:xfrm>
            <a:off x="1383786" y="5733315"/>
            <a:ext cx="9424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Выручка за весь период составила </a:t>
            </a:r>
            <a:r>
              <a:rPr lang="ru-RU" sz="18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1265793 у.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е</a:t>
            </a:r>
            <a:r>
              <a:rPr lang="ru-RU" dirty="0"/>
              <a:t>. Наибольший объем продаж зафиксирован во </a:t>
            </a:r>
            <a:r>
              <a:rPr lang="en-US" b="0" u="none" strike="noStrike" dirty="0">
                <a:effectLst/>
                <a:latin typeface="Google Sans"/>
              </a:rPr>
              <a:t>II</a:t>
            </a:r>
            <a:r>
              <a:rPr lang="ru-RU" b="0" u="none" strike="noStrike" dirty="0">
                <a:effectLst/>
                <a:latin typeface="Google Sans"/>
              </a:rPr>
              <a:t> квартале 1998г. (апрель), </a:t>
            </a:r>
            <a:r>
              <a:rPr lang="ru-RU" dirty="0"/>
              <a:t>составив 123799 у.е. (18% от общей выручки). Минимальный показатель наблюдаются во </a:t>
            </a:r>
            <a:r>
              <a:rPr lang="en-US" b="0" u="none" strike="noStrike" dirty="0">
                <a:effectLst/>
                <a:latin typeface="Google Sans"/>
              </a:rPr>
              <a:t>II</a:t>
            </a:r>
            <a:r>
              <a:rPr lang="ru-RU" b="0" u="none" strike="noStrike" dirty="0">
                <a:effectLst/>
                <a:latin typeface="Google Sans"/>
              </a:rPr>
              <a:t> квартале 1998г. (май)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963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D263257D-B294-4A5C-9A56-FB754FF36D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579618"/>
              </p:ext>
            </p:extLst>
          </p:nvPr>
        </p:nvGraphicFramePr>
        <p:xfrm>
          <a:off x="745331" y="122634"/>
          <a:ext cx="10701338" cy="6612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173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8B97F9-A5FB-43B9-AC84-C00EB616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ABC-</a:t>
            </a:r>
            <a:r>
              <a:rPr lang="ru-RU" dirty="0"/>
              <a:t>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621D9D-282F-4E90-9CDB-8CFAADBA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396125"/>
            <a:ext cx="10515599" cy="1325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600" dirty="0"/>
              <a:t>Категории </a:t>
            </a:r>
            <a:r>
              <a:rPr lang="en-US" sz="1600" dirty="0"/>
              <a:t>Beverages </a:t>
            </a:r>
            <a:r>
              <a:rPr lang="ru-RU" sz="1600" dirty="0"/>
              <a:t>и </a:t>
            </a:r>
            <a:r>
              <a:rPr lang="en-US" sz="1600" dirty="0"/>
              <a:t>Dairy Products </a:t>
            </a:r>
            <a:r>
              <a:rPr lang="ru-RU" sz="1600" dirty="0"/>
              <a:t>вместе формируют около 40% всей выручки. При этом четыре категории (</a:t>
            </a:r>
            <a:r>
              <a:rPr lang="en-US" sz="1600" dirty="0"/>
              <a:t>Beverages, Dairy Products, Confections, Meat/Poultry) </a:t>
            </a:r>
            <a:r>
              <a:rPr lang="ru-RU" sz="1600" dirty="0"/>
              <a:t>генерируют более 65% продаж, тогда как остальные четыре (</a:t>
            </a:r>
            <a:r>
              <a:rPr lang="en-US" sz="1600" dirty="0"/>
              <a:t>Seafood, Condiments, Produce, Grains/Cereals) </a:t>
            </a:r>
            <a:r>
              <a:rPr lang="ru-RU" sz="1600" dirty="0"/>
              <a:t>суммарно дают лишь порядка 35%.</a:t>
            </a:r>
          </a:p>
          <a:p>
            <a:pPr marL="0" indent="0" algn="ctr">
              <a:buNone/>
            </a:pPr>
            <a:r>
              <a:rPr lang="ru-RU" sz="1600" dirty="0"/>
              <a:t>Пик выручки у отдельных позиций </a:t>
            </a:r>
            <a:r>
              <a:rPr lang="en-US" sz="1600" dirty="0"/>
              <a:t>Côte de </a:t>
            </a:r>
            <a:r>
              <a:rPr lang="en-US" sz="1600" dirty="0" err="1"/>
              <a:t>Blaye</a:t>
            </a:r>
            <a:r>
              <a:rPr lang="ru-RU" sz="1600" dirty="0"/>
              <a:t>, а также заметный всплеск у </a:t>
            </a:r>
            <a:r>
              <a:rPr lang="en-US" sz="1600" dirty="0" err="1"/>
              <a:t>Thüringer</a:t>
            </a:r>
            <a:r>
              <a:rPr lang="en-US" sz="1600" dirty="0"/>
              <a:t> </a:t>
            </a:r>
            <a:r>
              <a:rPr lang="en-US" sz="1600" dirty="0" err="1"/>
              <a:t>Rostbratwurst</a:t>
            </a:r>
            <a:r>
              <a:rPr lang="en-US" sz="1600" dirty="0"/>
              <a:t> </a:t>
            </a:r>
            <a:r>
              <a:rPr lang="ru-RU" sz="1600" dirty="0"/>
              <a:t>и </a:t>
            </a:r>
            <a:r>
              <a:rPr lang="en-US" sz="1600" dirty="0"/>
              <a:t>Steeleye Stout</a:t>
            </a:r>
            <a:r>
              <a:rPr lang="ru-RU" sz="1600" dirty="0"/>
              <a:t>, что создает высокую зависимость от узкой группы «супер-хитов»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91FF3C4E-F313-49B2-8209-5B978AEEB6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7458434"/>
              </p:ext>
            </p:extLst>
          </p:nvPr>
        </p:nvGraphicFramePr>
        <p:xfrm>
          <a:off x="7377951" y="1065478"/>
          <a:ext cx="3975847" cy="4022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4087164F-0B1A-44E9-A5FF-9DEEB333B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8348181"/>
              </p:ext>
            </p:extLst>
          </p:nvPr>
        </p:nvGraphicFramePr>
        <p:xfrm>
          <a:off x="615249" y="1065478"/>
          <a:ext cx="6446138" cy="43851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8061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57E97-77BA-41C5-8756-81A60243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Категории клиентов по </a:t>
            </a:r>
            <a:r>
              <a:rPr lang="en-US" dirty="0"/>
              <a:t>Recency, Frequency, Monetary</a:t>
            </a:r>
            <a:endParaRPr lang="ru-RU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D6BF0181-AC96-40FE-B745-21EFE0539C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8100704"/>
              </p:ext>
            </p:extLst>
          </p:nvPr>
        </p:nvGraphicFramePr>
        <p:xfrm>
          <a:off x="838200" y="1309966"/>
          <a:ext cx="5257800" cy="388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9F716620-32BE-41D7-B1FF-7E011A8615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427871"/>
              </p:ext>
            </p:extLst>
          </p:nvPr>
        </p:nvGraphicFramePr>
        <p:xfrm>
          <a:off x="6398903" y="1287790"/>
          <a:ext cx="4954897" cy="3902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0C854F-1900-4F39-AB96-5F3F05CD67A0}"/>
              </a:ext>
            </a:extLst>
          </p:cNvPr>
          <p:cNvSpPr txBox="1"/>
          <p:nvPr/>
        </p:nvSpPr>
        <p:spPr>
          <a:xfrm>
            <a:off x="838200" y="5378824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Необходимо поддерживать и стимулировать категорию </a:t>
            </a:r>
            <a:r>
              <a:rPr lang="en-US" dirty="0"/>
              <a:t>VIP &amp; Loyal</a:t>
            </a:r>
            <a:r>
              <a:rPr lang="ru-RU" dirty="0"/>
              <a:t> клиентов</a:t>
            </a:r>
            <a:r>
              <a:rPr lang="en-US" dirty="0"/>
              <a:t> (35,17%)</a:t>
            </a:r>
            <a:r>
              <a:rPr lang="ru-RU" dirty="0"/>
              <a:t>;</a:t>
            </a:r>
          </a:p>
          <a:p>
            <a:pPr algn="ctr"/>
            <a:r>
              <a:rPr lang="ru-RU" dirty="0"/>
              <a:t>Срочно «реанимировать» </a:t>
            </a:r>
            <a:r>
              <a:rPr lang="en-US" dirty="0"/>
              <a:t>Cant Lose Them &amp; Needs Attention (21,97%)</a:t>
            </a:r>
            <a:r>
              <a:rPr lang="ru-RU" dirty="0"/>
              <a:t> до окончательной потери;</a:t>
            </a:r>
          </a:p>
          <a:p>
            <a:pPr algn="ctr"/>
            <a:r>
              <a:rPr lang="ru-RU" dirty="0"/>
              <a:t>Перевести категорию </a:t>
            </a:r>
            <a:r>
              <a:rPr lang="en-US" dirty="0"/>
              <a:t>Promising &amp; New (14,29%)</a:t>
            </a:r>
            <a:r>
              <a:rPr lang="ru-RU" dirty="0"/>
              <a:t> в </a:t>
            </a:r>
            <a:r>
              <a:rPr lang="en-US" dirty="0"/>
              <a:t>VIP &amp; Loyal</a:t>
            </a:r>
            <a:r>
              <a:rPr lang="ru-RU" dirty="0"/>
              <a:t> путем рекомендаций и скидок;</a:t>
            </a:r>
          </a:p>
          <a:p>
            <a:pPr algn="ctr"/>
            <a:r>
              <a:rPr lang="ru-RU" dirty="0"/>
              <a:t>Проверить возможность возврата </a:t>
            </a:r>
            <a:r>
              <a:rPr lang="en-US" dirty="0"/>
              <a:t>Hibernating &amp; Lost (28,57%)</a:t>
            </a:r>
            <a:r>
              <a:rPr lang="ru-RU" dirty="0"/>
              <a:t> с минимальными затратами</a:t>
            </a:r>
          </a:p>
        </p:txBody>
      </p:sp>
    </p:spTree>
    <p:extLst>
      <p:ext uri="{BB962C8B-B14F-4D97-AF65-F5344CB8AC3E}">
        <p14:creationId xmlns:p14="http://schemas.microsoft.com/office/powerpoint/2010/main" val="420304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09C9C-2BD7-4FD7-A32E-D907AF20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Коэффициент удержания и пожизненная ценность клиента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8390C2-0C5A-472E-AEA3-5A8872F48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50"/>
            <a:ext cx="3543300" cy="4755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	Когорта 01.10.1996 показывает самую высокую темповую динамику LTV, к 19-му месяцу принося около 25 000. Октябрьская когорта привлекает либо более платежеспособных клиентов, либо на ее поведение положительно влияют предновогодние/осенние кампании и повторные покупки в высоком сезоне.</a:t>
            </a:r>
          </a:p>
          <a:p>
            <a:pPr marL="0" indent="0">
              <a:buNone/>
            </a:pPr>
            <a:r>
              <a:rPr lang="ru-RU" sz="1600" dirty="0"/>
              <a:t>	Когорта января 1997 года растет медленнее остальных. Клиенты, привлеченные сразу после праздников, генерируют меньший LTV на старте и требуют больше времени для «раскачки». </a:t>
            </a:r>
          </a:p>
          <a:p>
            <a:pPr marL="0" indent="0">
              <a:buNone/>
            </a:pPr>
            <a:r>
              <a:rPr lang="ru-RU" sz="1600" dirty="0"/>
              <a:t>	Линия тренда восходящая, что говорит о сохранении удержания и регулярных повторных покупках у старых клиентов.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EC0EF3C0-EB0E-4B6B-81B0-4DBEBEA72B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2599150"/>
              </p:ext>
            </p:extLst>
          </p:nvPr>
        </p:nvGraphicFramePr>
        <p:xfrm>
          <a:off x="4467224" y="1504950"/>
          <a:ext cx="6886576" cy="4755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3806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07CCC-782D-4B1F-98DA-7EC0847B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Замороженный капитал и доступный запас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3068FDE2-DAC2-4896-A19F-50E45E807B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5486001"/>
              </p:ext>
            </p:extLst>
          </p:nvPr>
        </p:nvGraphicFramePr>
        <p:xfrm>
          <a:off x="5374341" y="1325563"/>
          <a:ext cx="5862638" cy="4774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02A5B0-65A1-4F4E-A74C-CF7F457A1EEE}"/>
              </a:ext>
            </a:extLst>
          </p:cNvPr>
          <p:cNvSpPr txBox="1"/>
          <p:nvPr/>
        </p:nvSpPr>
        <p:spPr>
          <a:xfrm>
            <a:off x="838200" y="1997839"/>
            <a:ext cx="4536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	Общая стоимость товаров на складе составляет 73953 у.е. </a:t>
            </a:r>
          </a:p>
          <a:p>
            <a:r>
              <a:rPr lang="ru-RU" dirty="0"/>
              <a:t>Наибольшая сумма капитала заморожена в категориях </a:t>
            </a:r>
            <a:r>
              <a:rPr lang="en-US" dirty="0"/>
              <a:t>seafood, beverages, </a:t>
            </a:r>
            <a:r>
              <a:rPr lang="en-US" dirty="0" err="1"/>
              <a:t>conditments</a:t>
            </a:r>
            <a:r>
              <a:rPr lang="ru-RU" dirty="0"/>
              <a:t>.</a:t>
            </a:r>
          </a:p>
          <a:p>
            <a:r>
              <a:rPr lang="ru-RU" dirty="0"/>
              <a:t>	Необходимо пополнить запасы в категориях </a:t>
            </a:r>
            <a:r>
              <a:rPr lang="en-US" dirty="0"/>
              <a:t>beverages</a:t>
            </a:r>
            <a:r>
              <a:rPr lang="ru-RU" dirty="0"/>
              <a:t> и </a:t>
            </a:r>
            <a:r>
              <a:rPr lang="en-US" dirty="0"/>
              <a:t>seafood</a:t>
            </a:r>
            <a:r>
              <a:rPr lang="ru-RU" dirty="0"/>
              <a:t>.</a:t>
            </a:r>
          </a:p>
          <a:p>
            <a:r>
              <a:rPr lang="ru-RU" dirty="0"/>
              <a:t>	Товары с уровнем остатка выше нормы требуется пересмотреть: скорректировать </a:t>
            </a:r>
            <a:r>
              <a:rPr lang="ru-RU" dirty="0" err="1"/>
              <a:t>ReorderLevel</a:t>
            </a:r>
            <a:r>
              <a:rPr lang="ru-RU" dirty="0"/>
              <a:t> и провести стимулирующие акции.</a:t>
            </a:r>
          </a:p>
        </p:txBody>
      </p:sp>
    </p:spTree>
    <p:extLst>
      <p:ext uri="{BB962C8B-B14F-4D97-AF65-F5344CB8AC3E}">
        <p14:creationId xmlns:p14="http://schemas.microsoft.com/office/powerpoint/2010/main" val="5515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BF54BF-BE02-4A65-99F8-9BFDB6F9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Качество сервиса и стоимость служб доставки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F526B-09FE-4434-A618-91A486151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537"/>
            <a:ext cx="4171951" cy="51094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800" dirty="0"/>
              <a:t>	</a:t>
            </a:r>
            <a:r>
              <a:rPr lang="ru-RU" sz="1800" dirty="0" err="1"/>
              <a:t>Speedy</a:t>
            </a:r>
            <a:r>
              <a:rPr lang="ru-RU" sz="1800" dirty="0"/>
              <a:t> Express</a:t>
            </a:r>
          </a:p>
          <a:p>
            <a:pPr marL="0" indent="0">
              <a:buNone/>
            </a:pPr>
            <a:r>
              <a:rPr lang="ru-RU" sz="1800" dirty="0"/>
              <a:t>Преимущество: наиболее выгодная цена доставки (65,00 у.е.)</a:t>
            </a:r>
          </a:p>
          <a:p>
            <a:pPr marL="0" indent="0">
              <a:buNone/>
            </a:pPr>
            <a:r>
              <a:rPr lang="ru-RU" sz="1800" dirty="0"/>
              <a:t>Недостаток: высокий уровень задержек (около 4,8% просроченных заказов)</a:t>
            </a:r>
          </a:p>
          <a:p>
            <a:pPr marL="0" indent="0">
              <a:buNone/>
            </a:pPr>
            <a:r>
              <a:rPr lang="ru-RU" sz="1800" dirty="0"/>
              <a:t>	Federal Shipping</a:t>
            </a:r>
          </a:p>
          <a:p>
            <a:pPr marL="0" indent="0">
              <a:buNone/>
            </a:pPr>
            <a:r>
              <a:rPr lang="ru-RU" sz="1800" dirty="0"/>
              <a:t>Преимущество: наименьшая доля просроченных заказов (~3,5%)</a:t>
            </a:r>
          </a:p>
          <a:p>
            <a:pPr marL="0" indent="0">
              <a:buNone/>
            </a:pPr>
            <a:r>
              <a:rPr lang="ru-RU" sz="1800" dirty="0"/>
              <a:t>Особенность: средняя стоимость перевозки составляет 80,44 	United </a:t>
            </a:r>
            <a:r>
              <a:rPr lang="ru-RU" sz="1800" dirty="0" err="1"/>
              <a:t>Package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Недостатки: самый высокий процент срывов сроков (около 4,9%) и самая высокая средняя стоимость перевозки (86,64)</a:t>
            </a:r>
          </a:p>
          <a:p>
            <a:pPr marL="0" indent="0">
              <a:buNone/>
            </a:pPr>
            <a:r>
              <a:rPr lang="ru-RU" sz="1800" dirty="0"/>
              <a:t>Для приоритетных/срочных грузов: Federal Shipping</a:t>
            </a:r>
          </a:p>
          <a:p>
            <a:pPr marL="0" indent="0">
              <a:buNone/>
            </a:pPr>
            <a:r>
              <a:rPr lang="ru-RU" sz="1800" dirty="0"/>
              <a:t>Для оптимизации бюджетов: </a:t>
            </a:r>
            <a:r>
              <a:rPr lang="ru-RU" sz="1800" dirty="0" err="1"/>
              <a:t>Speedy</a:t>
            </a:r>
            <a:r>
              <a:rPr lang="ru-RU" sz="1800" dirty="0"/>
              <a:t> Express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4941FD1A-50F5-4432-B1BB-5865B72078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6220897"/>
              </p:ext>
            </p:extLst>
          </p:nvPr>
        </p:nvGraphicFramePr>
        <p:xfrm>
          <a:off x="5286375" y="1506538"/>
          <a:ext cx="6067425" cy="485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959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FCE43-46F8-4374-9CD1-5AB48EFD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Выполнение плана сотрудниками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DEE06A69-E88A-4643-A33E-A9696B8284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4201046"/>
              </p:ext>
            </p:extLst>
          </p:nvPr>
        </p:nvGraphicFramePr>
        <p:xfrm>
          <a:off x="5048250" y="1416844"/>
          <a:ext cx="6305550" cy="5033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B2E755-0BFD-4DA3-8E65-E3377C81A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33265"/>
            <a:ext cx="3900488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5493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521</Words>
  <Application>Microsoft Office PowerPoint</Application>
  <PresentationFormat>Широкоэкранный</PresentationFormat>
  <Paragraphs>56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Baskerville Old Face</vt:lpstr>
      <vt:lpstr>Calibri</vt:lpstr>
      <vt:lpstr>Calibri Light</vt:lpstr>
      <vt:lpstr>Google Sans</vt:lpstr>
      <vt:lpstr>Тема Office</vt:lpstr>
      <vt:lpstr>NorthWind</vt:lpstr>
      <vt:lpstr>Динамика выручки и сезонность</vt:lpstr>
      <vt:lpstr>Презентация PowerPoint</vt:lpstr>
      <vt:lpstr>ABC-анализ</vt:lpstr>
      <vt:lpstr>Категории клиентов по Recency, Frequency, Monetary</vt:lpstr>
      <vt:lpstr>Коэффициент удержания и пожизненная ценность клиента</vt:lpstr>
      <vt:lpstr>Замороженный капитал и доступный запас</vt:lpstr>
      <vt:lpstr>Качество сервиса и стоимость служб доставки</vt:lpstr>
      <vt:lpstr>Выполнение плана сотрудниками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</dc:title>
  <dc:creator>Анна Беляева</dc:creator>
  <cp:lastModifiedBy>Анна Беляева</cp:lastModifiedBy>
  <cp:revision>26</cp:revision>
  <dcterms:created xsi:type="dcterms:W3CDTF">2026-09-16T14:38:32Z</dcterms:created>
  <dcterms:modified xsi:type="dcterms:W3CDTF">2026-09-17T09:27:40Z</dcterms:modified>
</cp:coreProperties>
</file>